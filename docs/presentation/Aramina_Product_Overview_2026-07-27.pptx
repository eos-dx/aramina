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e6d003ee82e4d8e" /><Relationship Type="http://schemas.openxmlformats.org/officeDocument/2006/relationships/extended-properties" Target="/docProps/app.xml" Id="R6a28cb1c02324abb" /><Relationship Type="http://schemas.openxmlformats.org/officeDocument/2006/relationships/officeDocument" Target="/ppt/presentation.xml" Id="R037368d6f0b7458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acf0f6d2fb34872"/>
  </p:sldMasterIdLst>
  <p:notesMasterIdLst>
    <p:notesMasterId xmlns:r="http://schemas.openxmlformats.org/officeDocument/2006/relationships" r:id="R94908dee10fc4145"/>
  </p:notesMasterIdLst>
  <p:sldIdLst>
    <p:sldId xmlns:r="http://schemas.openxmlformats.org/officeDocument/2006/relationships" id="256" r:id="Rd64f462315904c1c"/>
    <p:sldId xmlns:r="http://schemas.openxmlformats.org/officeDocument/2006/relationships" id="257" r:id="R44723b5f579d4c42"/>
    <p:sldId xmlns:r="http://schemas.openxmlformats.org/officeDocument/2006/relationships" id="258" r:id="R3fc5912a138c4dae"/>
    <p:sldId xmlns:r="http://schemas.openxmlformats.org/officeDocument/2006/relationships" id="259" r:id="Raaae27333402417c"/>
    <p:sldId xmlns:r="http://schemas.openxmlformats.org/officeDocument/2006/relationships" id="260" r:id="Rce9b4d4ccab149dd"/>
    <p:sldId xmlns:r="http://schemas.openxmlformats.org/officeDocument/2006/relationships" id="261" r:id="Rc886273227154d88"/>
    <p:sldId xmlns:r="http://schemas.openxmlformats.org/officeDocument/2006/relationships" id="262" r:id="Rdf1916c70c7b4a1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81c515dcd8e4c44" /><Relationship Type="http://schemas.openxmlformats.org/officeDocument/2006/relationships/slideMaster" Target="/ppt/slideMasters/slideMaster1.xml" Id="R9acf0f6d2fb34872" /><Relationship Type="http://schemas.openxmlformats.org/officeDocument/2006/relationships/notesMaster" Target="/ppt/notesMasters/notesMaster1.xml" Id="R94908dee10fc4145" /><Relationship Type="http://schemas.openxmlformats.org/officeDocument/2006/relationships/presProps" Target="/ppt/presProps.xml" Id="R208acef5c92948e4" /><Relationship Type="http://schemas.openxmlformats.org/officeDocument/2006/relationships/viewProps" Target="/ppt/viewProps.xml" Id="Rc01351ae9c9447fb" /><Relationship Type="http://schemas.openxmlformats.org/officeDocument/2006/relationships/tableStyles" Target="/ppt/tableStyles.xml" Id="R30b2c36171f04a17" /><Relationship Type="http://schemas.openxmlformats.org/officeDocument/2006/relationships/slide" Target="/ppt/slides/slide1.xml" Id="Rd64f462315904c1c" /><Relationship Type="http://schemas.openxmlformats.org/officeDocument/2006/relationships/slide" Target="/ppt/slides/slide2.xml" Id="R44723b5f579d4c42" /><Relationship Type="http://schemas.openxmlformats.org/officeDocument/2006/relationships/slide" Target="/ppt/slides/slide3.xml" Id="R3fc5912a138c4dae" /><Relationship Type="http://schemas.openxmlformats.org/officeDocument/2006/relationships/slide" Target="/ppt/slides/slide4.xml" Id="Raaae27333402417c" /><Relationship Type="http://schemas.openxmlformats.org/officeDocument/2006/relationships/slide" Target="/ppt/slides/slide5.xml" Id="Rce9b4d4ccab149dd" /><Relationship Type="http://schemas.openxmlformats.org/officeDocument/2006/relationships/slide" Target="/ppt/slides/slide6.xml" Id="Rc886273227154d88" /><Relationship Type="http://schemas.openxmlformats.org/officeDocument/2006/relationships/slide" Target="/ppt/slides/slide7.xml" Id="Rdf1916c70c7b4a1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4fce1bd043d459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0bddb2ce8ae4e79" /><Relationship Type="http://schemas.openxmlformats.org/officeDocument/2006/relationships/notesMaster" Target="/ppt/notesMasters/notesMaster1.xml" Id="R14983ea03238466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de0cafd03bb4e56" /><Relationship Type="http://schemas.openxmlformats.org/officeDocument/2006/relationships/notesMaster" Target="/ppt/notesMasters/notesMaster1.xml" Id="R788b6a5de2a6440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d75e3ee526f47eb" /><Relationship Type="http://schemas.openxmlformats.org/officeDocument/2006/relationships/notesMaster" Target="/ppt/notesMasters/notesMaster1.xml" Id="R56cdba617be94e4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169ba6ccdde47fa" /><Relationship Type="http://schemas.openxmlformats.org/officeDocument/2006/relationships/notesMaster" Target="/ppt/notesMasters/notesMaster1.xml" Id="Rb44a2ef4efef424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bb8e097c31c4bba" /><Relationship Type="http://schemas.openxmlformats.org/officeDocument/2006/relationships/notesMaster" Target="/ppt/notesMasters/notesMaster1.xml" Id="Rb786a0ec59104b6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6818c5d0b9f490a" /><Relationship Type="http://schemas.openxmlformats.org/officeDocument/2006/relationships/notesMaster" Target="/ppt/notesMasters/notesMaster1.xml" Id="R952340452946451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297897a7fa04240" /><Relationship Type="http://schemas.openxmlformats.org/officeDocument/2006/relationships/notesMaster" Target="/ppt/notesMasters/notesMaster1.xml" Id="Rf0477deb0f784f1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Aramina/docs/modeling/aramina_t100_target_case_model_v0_1.md; intended use and model scope.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Aramina/examples/outputs/preprocessing_and_training/aramina_target_breast_risk_preprocessing_and_training_20260724T125256Z_552f0758/preprocessing/cohort_summary.json; Aramina/docs/modeling/current_model_dataframe_v0_1.md.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Clinical_trials/analysis/aramina_preprocessing_v0_1/agbh_monochromaticity_by_batch.png; Aramina/docs/agbh_quality_exclusions.md; Aramina/docs/modeling/current_model_dataframe_v0_1.md.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Aramina/config/preprocessing/shared/aramina_policy_v0_1.yaml; Aramina/config/preprocessing/shared/aramina_pipeline_v0_1.yaml; frozen cohort dataframe inspection.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Aramina/docs/modeling/aramina_t100_target_case_model_v0_1.md; Aramina/docs/modeling/sk_symmetry_features_v0_1.md; frozen model_description.yaml.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Aramina/docs/modeling/aramina_t100_target_case_model_v0_1.md; Aramina/examples/outputs/preprocessing_and_training/aramina_target_breast_risk_preprocessing_and_training_20260724T125256Z_552f0758/training/aramina_target_breast_risk_0_2_12-beta_20260724T125510Z_b8beddb6/evaluation.yaml.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Frozen model_description.yaml and evaluation.yaml under Aramina/examples/outputs/preprocessing_and_training/aramina_target_breast_risk_preprocessing_and_training_20260724T125256Z_552f0758/training/aramina_target_breast_risk_0_2_12-beta_20260724T125510Z_b8beddb6/.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ce46a6f080481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822def1cd4407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51A4CF0-66DA-4C69-96CA-32CBFA0F53B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43098717-D0D8-1F0C-B4C6-2DE8FF39AEF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47DB5B6-E1DF-B23D-FC9A-5F1DABCDD32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C795F3-98E5-A84D-9B63-C5E35AC21179}" type="datetime1">
              <a:t>7/4/26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7E975DA-B213-DDF9-8E87-5C1EBD908D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5D20A4-066E-EF3B-6C01-3EE687102A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D2E9407-E728-C143-A195-069F8C23FB17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1aca28c613b42d2" /><Relationship Type="http://schemas.openxmlformats.org/officeDocument/2006/relationships/slideLayout" Target="/ppt/slideLayouts/slideLayout1.xml" Id="Rd7eaa4f918f444a2" /><Relationship Type="http://schemas.openxmlformats.org/officeDocument/2006/relationships/slideLayout" Target="/ppt/slideLayouts/slideLayout2.xml" Id="R204eeeceb581466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7eaa4f918f444a2"/>
    <p:sldLayoutId xmlns:r="http://schemas.openxmlformats.org/officeDocument/2006/relationships" id="2147483650" r:id="R204eeeceb581466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087a3a4a5124d91" /><Relationship Type="http://schemas.openxmlformats.org/officeDocument/2006/relationships/notesSlide" Target="/ppt/notesSlides/notesSlide1.xml" Id="R00c3ef15f63c486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4ff591e95e42b9" /><Relationship Type="http://schemas.openxmlformats.org/officeDocument/2006/relationships/notesSlide" Target="/ppt/notesSlides/notesSlide2.xml" Id="Rf1dbedc0dcf744c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4fa3fad19b4637" /><Relationship Type="http://schemas.openxmlformats.org/officeDocument/2006/relationships/image" Target="/ppt/media/image.png" Id="R7e7ea9f714e84a81" /><Relationship Type="http://schemas.openxmlformats.org/officeDocument/2006/relationships/notesSlide" Target="/ppt/notesSlides/notesSlide3.xml" Id="R8a6112baf60b449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33f81cd7c84b89" /><Relationship Type="http://schemas.openxmlformats.org/officeDocument/2006/relationships/notesSlide" Target="/ppt/notesSlides/notesSlide4.xml" Id="Rb699a9fd5fe6465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1f0db1f71843c7" /><Relationship Type="http://schemas.openxmlformats.org/officeDocument/2006/relationships/notesSlide" Target="/ppt/notesSlides/notesSlide5.xml" Id="R58c761e0fa474e3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4be61ca54a4850" /><Relationship Type="http://schemas.openxmlformats.org/officeDocument/2006/relationships/notesSlide" Target="/ppt/notesSlides/notesSlide6.xml" Id="Rf49b26441e5c48f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7e01383b6b49a0" /><Relationship Type="http://schemas.openxmlformats.org/officeDocument/2006/relationships/notesSlide" Target="/ppt/notesSlides/notesSlide7.xml" Id="Ra8bac144a5e14f7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62ED4D0-0A58-C154-F873-F4093BF588F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520456"/>
            <a:ext cx="9144000" cy="2075874"/>
          </a:xfrm>
        </p:spPr>
        <p:txBody>
          <a:bodyPr xmlns:a="http://schemas.openxmlformats.org/drawingml/2006/main">
            <a:normAutofit fontScale="80378"/>
          </a:bodyPr>
          <a:lstStyle xmlns:a="http://schemas.openxmlformats.org/drawingml/2006/main"/>
          <a:p xmlns:a="http://schemas.openxmlformats.org/drawingml/2006/main">
            <a:r>
              <a:t>ARAMINA</a:t>
            </a:r>
          </a:p>
          <a:p xmlns:a="http://schemas.openxmlformats.org/drawingml/2006/main">
            <a:r>
              <a:t>XRD decision support for biopsy assessment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21EAF9B-F784-B2BE-4D3D-E0333086F6B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4266181"/>
            <a:ext cx="9144000" cy="16557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Research-draft product overview</a:t>
            </a:r>
          </a:p>
          <a:p xmlns:a="http://schemas.openxmlformats.org/drawingml/2006/main">
            <a:r>
              <a:t>27/07/2026</a:t>
            </a:r>
          </a:p>
        </p:txBody>
      </p:sp>
    </p:spTree>
    <p:extLst>
      <p:ext uri="{BB962C8B-B14F-4D97-AF65-F5344CB8AC3E}">
        <p14:creationId xmlns:p14="http://schemas.microsoft.com/office/powerpoint/2010/main" val="16609540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2A458387-159B-4146-8095-F7E5BF293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09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0">
                <a:solidFill>
                  <a:srgbClr val="000000"/>
                </a:solidFill>
              </a:defRPr>
            </a:pPr>
            <a:r>
              <a:rPr sz="3300" b="0">
                <a:solidFill>
                  <a:srgbClr val="000000"/>
                </a:solidFill>
              </a:rPr>
              <a:t>T100 defines the biopsy-confirmed cohort</a:t>
            </a: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A1608AC-4328-4391-B83D-49268B7CA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45556C"/>
                </a:solidFill>
              </a:defRPr>
            </a:pPr>
            <a:r>
              <a:rPr sz="1500">
                <a:solidFill>
                  <a:srgbClr val="45556C"/>
                </a:solidFill>
              </a:rPr>
              <a:t>Archive acquisitions: 14 May 2025 to 10 June 2026 | T100 preprocessing | target-breast endpoint</a:t>
            </a:r>
          </a:p>
        </p:txBody>
      </p:sp>
      <p:sp>
        <p:nvSpPr>
          <p:cNvPr id="3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F7A2B035-89FA-44CC-B5D3-5E69D918F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952625"/>
            <a:ext cx="1619250" cy="78105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Combined H5</a:t>
            </a:r>
          </a:p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2D XRD + metadata</a:t>
            </a: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66CFD014-8A50-46DC-ACC5-DE4C11E5D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1857375"/>
            <a:ext cx="2095500" cy="971550"/>
          </a:xfrm>
          <a:prstGeom xmlns:a="http://schemas.openxmlformats.org/drawingml/2006/main" prst="roundRect">
            <a:avLst>
              <a:gd name="adj" fmla="val 19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AgBH T100 QC</a:t>
            </a:r>
          </a:p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PONI + thickness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14624A93-3DE6-4951-B551-F1AD13AC7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857375"/>
            <a:ext cx="1905000" cy="971550"/>
          </a:xfrm>
          <a:prstGeom xmlns:a="http://schemas.openxmlformats.org/drawingml/2006/main" prst="roundRect">
            <a:avLst>
              <a:gd name="adj" fmla="val 19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Biopsy-patient</a:t>
            </a:r>
          </a:p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cohort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FF95B6FE-E7F2-47A1-B169-83743F624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857375"/>
            <a:ext cx="2095500" cy="971550"/>
          </a:xfrm>
          <a:prstGeom xmlns:a="http://schemas.openxmlformats.org/drawingml/2006/main" prst="roundRect">
            <a:avLst>
              <a:gd name="adj" fmla="val 19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Biopsied breast</a:t>
            </a:r>
          </a:p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= target case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77454E5E-5A22-40BD-A3C5-3BE6516A0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857375"/>
            <a:ext cx="1714500" cy="971550"/>
          </a:xfrm>
          <a:prstGeom xmlns:a="http://schemas.openxmlformats.org/drawingml/2006/main" prst="roundRect">
            <a:avLst>
              <a:gd name="adj" fmla="val 19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Frozen model</a:t>
            </a:r>
          </a:p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0.2.12-beta</a:t>
            </a:r>
          </a:p>
        </p:txBody>
      </p:sp>
      <p:cxnSp>
        <p:nvCxnSpPr>
          <p:cNvPr id="51" name="Straight Arrow Connector 28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2333625" y="234315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5556C"/>
            </a:solidFill>
            <a:prstDash val="solid"/>
            <a:tailEnd type="arrow" w="med" len="med"/>
          </a:ln>
        </p:spPr>
      </p:cxnSp>
      <p:cxnSp>
        <p:nvCxnSpPr>
          <p:cNvPr id="52" name="Straight Arrow Connector 29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4810125" y="234315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5556C"/>
            </a:solidFill>
            <a:prstDash val="solid"/>
            <a:tailEnd type="arrow" w="med" len="med"/>
          </a:ln>
        </p:spPr>
      </p:cxnSp>
      <p:cxnSp>
        <p:nvCxnSpPr>
          <p:cNvPr id="53" name="Straight Arrow Connector 30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7096125" y="234315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5556C"/>
            </a:solidFill>
            <a:prstDash val="solid"/>
            <a:tailEnd type="arrow" w="med" len="med"/>
          </a:ln>
        </p:spPr>
      </p:cxnSp>
      <p:cxnSp>
        <p:nvCxnSpPr>
          <p:cNvPr id="54" name="Straight Arrow Connector 31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9572625" y="2343150"/>
            <a:ext cx="333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5556C"/>
            </a:solidFill>
            <a:prstDash val="solid"/>
            <a:tailEnd type="arrow" w="med" len="med"/>
          </a:ln>
        </p:spPr>
      </p:cxn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026D0546-9525-438C-9408-9687AA17D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2425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Accepted model-input cohort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8B7DFC46-4AF1-49E5-ADE7-E09C34E58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38600"/>
            <a:ext cx="1600200" cy="8001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164</a:t>
            </a:r>
          </a:p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patients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F2DCE42-D5A9-412C-AD59-6F3FB9190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038600"/>
            <a:ext cx="1600200" cy="8001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314</a:t>
            </a:r>
          </a:p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breasts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E422337D-508C-4C9C-8254-C7B7B502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38600"/>
            <a:ext cx="1600200" cy="8001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893</a:t>
            </a:r>
          </a:p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measurements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27432C57-6F4D-4286-924E-822E4C17D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242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Historical target cases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DC296019-306D-43E8-A7FD-D42548D98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38600"/>
            <a:ext cx="1600200" cy="8001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175</a:t>
            </a:r>
          </a:p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target breasts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B3DB8C35-764C-4228-9399-CDF4CA4DF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038600"/>
            <a:ext cx="1600200" cy="8001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76</a:t>
            </a:r>
          </a:p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CANCER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3E0C9C46-D511-4B21-A2D7-EA48D5523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4038600"/>
            <a:ext cx="1600200" cy="8001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99</a:t>
            </a:r>
          </a:p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BENIGN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778A72D6-0704-441C-AE09-31F88182E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• 150 patients have two breasts; 14 have one breast.</a:t>
            </a:r>
          </a:p>
          <a:p xmlns:a="http://schemas.openxmlformats.org/drawingml/2006/main">
            <a:pPr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• NORMAL + BENIGN  -&gt;  BENIGN</a:t>
            </a:r>
          </a:p>
          <a:p xmlns:a="http://schemas.openxmlformats.org/drawingml/2006/main">
            <a:pPr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• ATYPICAL + PRE_CANCEROUS + CANCER  -&gt;  CANCER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1B48166C-98B6-4633-8ED2-55593AEC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05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>
                <a:solidFill>
                  <a:srgbClr val="62748E"/>
                </a:solidFill>
              </a:defRPr>
            </a:pPr>
            <a:r>
              <a:rPr sz="1200">
                <a:solidFill>
                  <a:srgbClr val="62748E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6734444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39AD3EA8-D1F8-45EB-9FD2-CB36AC974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09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0">
                <a:solidFill>
                  <a:srgbClr val="000000"/>
                </a:solidFill>
              </a:defRPr>
            </a:pPr>
            <a:r>
              <a:rPr sz="3300" b="0">
                <a:solidFill>
                  <a:srgbClr val="000000"/>
                </a:solidFill>
              </a:rPr>
              <a:t>T100 removes unstable calibration sessions</a:t>
            </a: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D658E83-0632-4E16-BFBC-7FE6F58AB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45556C"/>
                </a:solidFill>
              </a:defRPr>
            </a:pPr>
            <a:r>
              <a:rPr sz="1500">
                <a:solidFill>
                  <a:srgbClr val="45556C"/>
                </a:solidFill>
              </a:rPr>
              <a:t>K-beta shoulder contamination can distort XRD profiles before modelling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C194CF2-B230-4791-A79E-98C288468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00000"/>
                </a:solidFill>
              </a:defRPr>
            </a:pPr>
            <a:r>
              <a:rPr sz="2250" b="1">
                <a:solidFill>
                  <a:srgbClr val="000000"/>
                </a:solidFill>
              </a:rPr>
              <a:t>Why this matters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AEA42A9-9764-4EDD-A6F6-53AAC3F59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95500"/>
            <a:ext cx="495300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• Product profiles must share one stable q calibration.</a:t>
            </a:r>
          </a:p>
          <a:p xmlns:a="http://schemas.openxmlformats.org/drawingml/2006/main">
            <a:pPr>
              <a:buNone/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• AgBH is an external calibration-quality monitor.</a:t>
            </a:r>
          </a:p>
          <a:p xmlns:a="http://schemas.openxmlformats.org/drawingml/2006/main">
            <a:pPr>
              <a:buNone/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• T100 uses score &lt;=0.0075; sessions above the threshold are excluded before GFRM loading.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D79794B-6057-4117-B2FC-6A5F65DFD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57162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00000"/>
                </a:solidFill>
              </a:defRPr>
            </a:pPr>
            <a:r>
              <a:rPr sz="2250" b="1">
                <a:solidFill>
                  <a:srgbClr val="000000"/>
                </a:solidFill>
              </a:rPr>
              <a:t>All calibration sessions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A84A7939-ABC7-4F22-B433-89FE6BCF2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95300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/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35180EC-879C-4C4D-A1BC-4EDE051F2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9587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00000"/>
                </a:solidFill>
              </a:defRPr>
            </a:pPr>
            <a:r>
              <a:rPr sz="2250" b="1">
                <a:solidFill>
                  <a:srgbClr val="000000"/>
                </a:solidFill>
              </a:rPr>
              <a:t>Product decision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7592CFC-72FF-421E-AFE3-8BC48CF1E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5095875"/>
            <a:ext cx="7620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000000"/>
                </a:solidFill>
              </a:defRPr>
            </a:pPr>
            <a:r>
              <a:rPr sz="1950" b="0">
                <a:solidFill>
                  <a:srgbClr val="000000"/>
                </a:solidFill>
              </a:rPr>
              <a:t>T100 is the frozen preprocessing route for the current Aramina model artifact.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1E0F79A4-FD16-4EFF-9C71-74EAC9DBB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05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>
                <a:solidFill>
                  <a:srgbClr val="62748E"/>
                </a:solidFill>
              </a:defRPr>
            </a:pPr>
            <a:r>
              <a:rPr sz="1200">
                <a:solidFill>
                  <a:srgbClr val="62748E"/>
                </a:solidFill>
              </a:rPr>
              <a:t>2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7ea9f714e84a81"/>
          <a:stretch xmlns:a="http://schemas.openxmlformats.org/drawingml/2006/main"/>
        </p:blipFill>
        <p:spPr>
          <a:xfrm xmlns:a="http://schemas.openxmlformats.org/drawingml/2006/main">
            <a:off x="6238875" y="2321218"/>
            <a:ext cx="5238750" cy="202506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585901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2A458387-159B-4146-8095-F7E5BF293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09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0">
                <a:solidFill>
                  <a:srgbClr val="000000"/>
                </a:solidFill>
              </a:defRPr>
            </a:pPr>
            <a:r>
              <a:rPr sz="3300" b="0">
                <a:solidFill>
                  <a:srgbClr val="000000"/>
                </a:solidFill>
              </a:rPr>
              <a:t>2D XRD becomes a normalized 100-point profile</a:t>
            </a: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A1608AC-4328-4391-B83D-49268B7CA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45556C"/>
                </a:solidFill>
              </a:defRPr>
            </a:pPr>
            <a:r>
              <a:rPr sz="1500">
                <a:solidFill>
                  <a:srgbClr val="45556C"/>
                </a:solidFill>
              </a:rPr>
              <a:t>All settings are frozen in the preprocessing YAML and stored with the model artifact</a:t>
            </a:r>
          </a:p>
        </p:txBody>
      </p:sp>
      <p:sp>
        <p:nvSpPr>
          <p:cNvPr id="3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F7A2B035-89FA-44CC-B5D3-5E69D918F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952625"/>
            <a:ext cx="1619250" cy="78105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H5 container</a:t>
            </a:r>
          </a:p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raw GFRM + metadata</a:t>
            </a: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66CFD014-8A50-46DC-ACC5-DE4C11E5D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1857375"/>
            <a:ext cx="2095500" cy="971550"/>
          </a:xfrm>
          <a:prstGeom xmlns:a="http://schemas.openxmlformats.org/drawingml/2006/main" prst="roundRect">
            <a:avLst>
              <a:gd name="adj" fmla="val 19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Quality filters</a:t>
            </a:r>
          </a:p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AgBH, PONI, thickness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14624A93-3DE6-4951-B551-F1AD13AC7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857375"/>
            <a:ext cx="1905000" cy="971550"/>
          </a:xfrm>
          <a:prstGeom xmlns:a="http://schemas.openxmlformats.org/drawingml/2006/main" prst="roundRect">
            <a:avLst>
              <a:gd name="adj" fmla="val 19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Faulty-pixel</a:t>
            </a:r>
          </a:p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mask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FF95B6FE-E7F2-47A1-B169-83743F624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857375"/>
            <a:ext cx="2095500" cy="971550"/>
          </a:xfrm>
          <a:prstGeom xmlns:a="http://schemas.openxmlformats.org/drawingml/2006/main" prst="roundRect">
            <a:avLst>
              <a:gd name="adj" fmla="val 19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Azimuthal</a:t>
            </a:r>
          </a:p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integration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77454E5E-5A22-40BD-A3C5-3BE6516A0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857375"/>
            <a:ext cx="1714500" cy="971550"/>
          </a:xfrm>
          <a:prstGeom xmlns:a="http://schemas.openxmlformats.org/drawingml/2006/main" prst="roundRect">
            <a:avLst>
              <a:gd name="adj" fmla="val 19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Normalized 1D</a:t>
            </a:r>
          </a:p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radial profile</a:t>
            </a:r>
          </a:p>
        </p:txBody>
      </p:sp>
      <p:cxnSp>
        <p:nvCxnSpPr>
          <p:cNvPr id="51" name="Straight Arrow Connector 28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2333625" y="234315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5556C"/>
            </a:solidFill>
            <a:prstDash val="solid"/>
            <a:tailEnd type="arrow" w="med" len="med"/>
          </a:ln>
        </p:spPr>
      </p:cxnSp>
      <p:cxnSp>
        <p:nvCxnSpPr>
          <p:cNvPr id="52" name="Straight Arrow Connector 29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4810125" y="234315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5556C"/>
            </a:solidFill>
            <a:prstDash val="solid"/>
            <a:tailEnd type="arrow" w="med" len="med"/>
          </a:ln>
        </p:spPr>
      </p:cxnSp>
      <p:cxnSp>
        <p:nvCxnSpPr>
          <p:cNvPr id="53" name="Straight Arrow Connector 30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7096125" y="234315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5556C"/>
            </a:solidFill>
            <a:prstDash val="solid"/>
            <a:tailEnd type="arrow" w="med" len="med"/>
          </a:ln>
        </p:spPr>
      </p:cxnSp>
      <p:cxnSp>
        <p:nvCxnSpPr>
          <p:cNvPr id="54" name="Straight Arrow Connector 31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9572625" y="2343150"/>
            <a:ext cx="333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5556C"/>
            </a:solidFill>
            <a:prstDash val="solid"/>
            <a:tailEnd type="arrow" w="med" len="med"/>
          </a:ln>
        </p:spPr>
      </p:cxn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026D0546-9525-438C-9408-9687AA17D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2425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Integration and signal quality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8B7DFC46-4AF1-49E5-ADE7-E09C34E58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38600"/>
            <a:ext cx="1600200" cy="8001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2-23 nm^-1</a:t>
            </a:r>
          </a:p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q range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F2DCE42-D5A9-412C-AD59-6F3FB9190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038600"/>
            <a:ext cx="1600200" cy="8001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100</a:t>
            </a:r>
          </a:p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q points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E422337D-508C-4C9C-8254-C7B7B502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38600"/>
            <a:ext cx="1600200" cy="8001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SNR &gt;=18 dB</a:t>
            </a:r>
          </a:p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Poisson model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27432C57-6F4D-4286-924E-822E4C17D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242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Normalization and profile gate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DC296019-306D-43E8-A7FD-D42548D98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38600"/>
            <a:ext cx="1600200" cy="8001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6.7-7.1 nm^-1</a:t>
            </a:r>
          </a:p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median reference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B3DB8C35-764C-4228-9399-CDF4CA4DF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038600"/>
            <a:ext cx="1600200" cy="8001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q=14 nm^-1</a:t>
            </a:r>
          </a:p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profile gate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3E0C9C46-D511-4B21-A2D7-EA48D5523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4038600"/>
            <a:ext cx="1600200" cy="8001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P1/P2/P3</a:t>
            </a:r>
          </a:p>
          <a:p xmlns:a="http://schemas.openxmlformats.org/drawingml/2006/main">
            <a:pPr algn="ctr">
              <a:buNone/>
              <a:defRPr sz="1500">
                <a:solidFill>
                  <a:srgbClr val="000000"/>
                </a:solidFill>
              </a:defRPr>
            </a:pPr>
            <a:r>
              <a:rPr sz="1500">
                <a:solidFill>
                  <a:srgbClr val="000000"/>
                </a:solidFill>
              </a:rPr>
              <a:t>293 / 303 / 297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778A72D6-0704-441C-AE09-31F88182E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• Calibrant thickness must be 2-40 mm; sample thickness is required.</a:t>
            </a:r>
          </a:p>
          <a:p xmlns:a="http://schemas.openxmlformats.org/drawingml/2006/main">
            <a:pPr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• PONI geometry must cover q &gt;=23 nm^-1 before integration.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1B48166C-98B6-4633-8ED2-55593AEC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05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>
                <a:solidFill>
                  <a:srgbClr val="62748E"/>
                </a:solidFill>
              </a:defRPr>
            </a:pPr>
            <a:r>
              <a:rPr sz="1200">
                <a:solidFill>
                  <a:srgbClr val="62748E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67344446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B1114280-B6CC-40C0-A0F1-F669DA605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09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0">
                <a:solidFill>
                  <a:srgbClr val="000000"/>
                </a:solidFill>
              </a:defRPr>
            </a:pPr>
            <a:r>
              <a:rPr sz="3300" b="0">
                <a:solidFill>
                  <a:srgbClr val="000000"/>
                </a:solidFill>
              </a:rPr>
              <a:t>Final p_cancer combines profile, age and symmetry</a:t>
            </a: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BE51B38-ED20-492C-A35F-485DB4CE8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45556C"/>
                </a:solidFill>
              </a:defRPr>
            </a:pPr>
            <a:r>
              <a:rPr sz="1500">
                <a:solidFill>
                  <a:srgbClr val="45556C"/>
                </a:solidFill>
              </a:rPr>
              <a:t>Two logistic-regression stages; symmetry is optional and never blocks prediction</a:t>
            </a:r>
          </a:p>
        </p:txBody>
      </p:sp>
      <p:sp>
        <p:nvSpPr>
          <p:cNvPr id="3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8B3A3D6C-F02E-42BF-B509-857E537F9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428750"/>
            <a:ext cx="2381250" cy="704850"/>
          </a:xfrm>
          <a:prstGeom xmlns:a="http://schemas.openxmlformats.org/drawingml/2006/main" prst="roundRect">
            <a:avLst>
              <a:gd name="adj" fmla="val 27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/>
            </a: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2D834FF2-F0E0-4D23-9C1B-9E9DC5229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524125"/>
            <a:ext cx="2190750" cy="5715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/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AD44241B-1A89-4A80-A15E-B4F9D4477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476625"/>
            <a:ext cx="2667000" cy="7239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/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9F4B30BD-E3DD-4CC5-BDB8-1AA269F9D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905375"/>
            <a:ext cx="2000250" cy="6477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/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F6BC942A-8996-4F7D-AAD1-5E3747A03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762500"/>
            <a:ext cx="2381250" cy="78105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/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8720C2C-7F53-46D3-BFDD-8D178D54F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810250"/>
            <a:ext cx="2571750" cy="59055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/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DE1B3EBC-B5F9-4C16-9346-550F9A7FC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62500"/>
            <a:ext cx="2000250" cy="78105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/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E878967-444B-4A9B-970D-5C090D3C6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810250"/>
            <a:ext cx="2857500" cy="59055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/>
            </a:r>
          </a:p>
        </p:txBody>
      </p:sp>
      <p:cxnSp>
        <p:nvCxnSpPr>
          <p:cNvPr id="87" name="Straight Arrow Connector 29"/>
          <p:cNvCxnSpPr>
            <a:stCxn xmlns:a="http://schemas.openxmlformats.org/drawingml/2006/main" id="3" idx="2"/>
            <a:endCxn xmlns:a="http://schemas.openxmlformats.org/drawingml/2006/main" id="4" idx="0"/>
          </p:cNvCxnSpPr>
          <p:nvPr/>
        </p:nvCxnSpPr>
        <p:spPr>
          <a:xfrm xmlns:a="http://schemas.openxmlformats.org/drawingml/2006/main">
            <a:off x="5572125" y="2133600"/>
            <a:ext cx="0" cy="390525"/>
          </a:xfrm>
          <a:prstGeom xmlns:a="http://schemas.openxmlformats.org/drawingml/2006/main" prst="straightConnector1">
            <a:avLst/>
          </a:prstGeom>
          <a:ln xmlns:a="http://schemas.openxmlformats.org/drawingml/2006/main" w="0">
            <a:solidFill>
              <a:srgbClr val="FFFFFF"/>
            </a:solidFill>
            <a:prstDash val="solid"/>
            <a:tailEnd type="arrow" w="med" len="med"/>
          </a:ln>
        </p:spPr>
      </p:cxnSp>
      <p:cxnSp>
        <p:nvCxnSpPr>
          <p:cNvPr id="88" name="Straight Arrow Connector 30"/>
          <p:cNvCxnSpPr>
            <a:stCxn xmlns:a="http://schemas.openxmlformats.org/drawingml/2006/main" id="4" idx="2"/>
            <a:endCxn xmlns:a="http://schemas.openxmlformats.org/drawingml/2006/main" id="5" idx="0"/>
          </p:cNvCxnSpPr>
          <p:nvPr/>
        </p:nvCxnSpPr>
        <p:spPr>
          <a:xfrm xmlns:a="http://schemas.openxmlformats.org/drawingml/2006/main">
            <a:off x="5572125" y="3095625"/>
            <a:ext cx="0" cy="381000"/>
          </a:xfrm>
          <a:prstGeom xmlns:a="http://schemas.openxmlformats.org/drawingml/2006/main" prst="straightConnector1">
            <a:avLst/>
          </a:prstGeom>
          <a:ln xmlns:a="http://schemas.openxmlformats.org/drawingml/2006/main" w="0">
            <a:solidFill>
              <a:srgbClr val="FFFFFF"/>
            </a:solidFill>
            <a:prstDash val="solid"/>
            <a:tailEnd type="arrow" w="med" len="med"/>
          </a:ln>
        </p:spPr>
      </p:cxnSp>
      <p:cxnSp>
        <p:nvCxnSpPr>
          <p:cNvPr id="89" name="Straight Arrow Connector 31"/>
          <p:cNvCxnSpPr>
            <a:stCxn xmlns:a="http://schemas.openxmlformats.org/drawingml/2006/main" id="5" idx="1"/>
            <a:endCxn xmlns:a="http://schemas.openxmlformats.org/drawingml/2006/main" id="6" idx="0"/>
          </p:cNvCxnSpPr>
          <p:nvPr/>
        </p:nvCxnSpPr>
        <p:spPr>
          <a:xfrm xmlns:a="http://schemas.openxmlformats.org/drawingml/2006/main" flipH="1">
            <a:off x="1905000" y="3838575"/>
            <a:ext cx="2333625" cy="1066800"/>
          </a:xfrm>
          <a:prstGeom xmlns:a="http://schemas.openxmlformats.org/drawingml/2006/main" prst="straightConnector1">
            <a:avLst/>
          </a:prstGeom>
          <a:ln xmlns:a="http://schemas.openxmlformats.org/drawingml/2006/main" w="0">
            <a:solidFill>
              <a:srgbClr val="FFFFFF"/>
            </a:solidFill>
            <a:prstDash val="solid"/>
            <a:tailEnd type="arrow" w="med" len="med"/>
          </a:ln>
        </p:spPr>
      </p:cxnSp>
      <p:cxnSp>
        <p:nvCxnSpPr>
          <p:cNvPr id="90" name="Straight Arrow Connector 32"/>
          <p:cNvCxnSpPr>
            <a:stCxn xmlns:a="http://schemas.openxmlformats.org/drawingml/2006/main" id="5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5572125" y="4200525"/>
            <a:ext cx="571500" cy="561975"/>
          </a:xfrm>
          <a:prstGeom xmlns:a="http://schemas.openxmlformats.org/drawingml/2006/main" prst="straightConnector1">
            <a:avLst/>
          </a:prstGeom>
          <a:ln xmlns:a="http://schemas.openxmlformats.org/drawingml/2006/main" w="0">
            <a:solidFill>
              <a:srgbClr val="FFFFFF"/>
            </a:solidFill>
            <a:prstDash val="solid"/>
            <a:tailEnd type="arrow" w="med" len="med"/>
          </a:ln>
        </p:spPr>
      </p:cxnSp>
      <p:cxnSp>
        <p:nvCxnSpPr>
          <p:cNvPr id="91" name="Straight Arrow Connector 33"/>
          <p:cNvCxnSpPr>
            <a:stCxn xmlns:a="http://schemas.openxmlformats.org/drawingml/2006/main" id="7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 flipH="1">
            <a:off x="4905375" y="5543550"/>
            <a:ext cx="1238250" cy="266700"/>
          </a:xfrm>
          <a:prstGeom xmlns:a="http://schemas.openxmlformats.org/drawingml/2006/main" prst="straightConnector1">
            <a:avLst/>
          </a:prstGeom>
          <a:ln xmlns:a="http://schemas.openxmlformats.org/drawingml/2006/main" w="0">
            <a:solidFill>
              <a:srgbClr val="FFFFFF"/>
            </a:solidFill>
            <a:prstDash val="solid"/>
            <a:tailEnd type="arrow" w="med" len="med"/>
          </a:ln>
        </p:spPr>
      </p:cxnSp>
      <p:cxnSp>
        <p:nvCxnSpPr>
          <p:cNvPr id="92" name="Straight Arrow Connector 34"/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7334250" y="5153025"/>
            <a:ext cx="762000" cy="0"/>
          </a:xfrm>
          <a:prstGeom xmlns:a="http://schemas.openxmlformats.org/drawingml/2006/main" prst="straightConnector1">
            <a:avLst/>
          </a:prstGeom>
          <a:ln xmlns:a="http://schemas.openxmlformats.org/drawingml/2006/main" w="0">
            <a:solidFill>
              <a:srgbClr val="FFFFFF"/>
            </a:solidFill>
            <a:prstDash val="solid"/>
            <a:tailEnd type="arrow" w="med" len="med"/>
          </a:ln>
        </p:spPr>
      </p:cxnSp>
      <p:cxnSp>
        <p:nvCxnSpPr>
          <p:cNvPr id="93" name="Straight Arrow Connector 35"/>
          <p:cNvCxnSpPr>
            <a:stCxn xmlns:a="http://schemas.openxmlformats.org/drawingml/2006/main" id="9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 flipH="1">
            <a:off x="9048750" y="5543550"/>
            <a:ext cx="47625" cy="266700"/>
          </a:xfrm>
          <a:prstGeom xmlns:a="http://schemas.openxmlformats.org/drawingml/2006/main" prst="straightConnector1">
            <a:avLst/>
          </a:prstGeom>
          <a:ln xmlns:a="http://schemas.openxmlformats.org/drawingml/2006/main" w="0">
            <a:solidFill>
              <a:srgbClr val="FFFFFF"/>
            </a:solidFill>
            <a:prstDash val="solid"/>
            <a:tailEnd type="arrow" w="med" len="med"/>
          </a:ln>
        </p:spPr>
      </p:cxn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646FCAC8-16FC-4C5E-A2C3-3150D4171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476375"/>
            <a:ext cx="37147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/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69881518-ADB8-4CF0-B88F-A8E32F4B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05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>
                <a:solidFill>
                  <a:srgbClr val="62748E"/>
                </a:solidFill>
              </a:defRPr>
            </a:pPr>
            <a:r>
              <a:rPr sz="1200">
                <a:solidFill>
                  <a:srgbClr val="62748E"/>
                </a:solidFill>
              </a:rPr>
              <a:t>4</a:t>
            </a:r>
          </a:p>
        </p:txBody>
      </p:sp>
      <p:sp>
        <p:nvSpPr>
          <p:cNvPr id="54" name="P1 profile">
            <a:extLst xmlns:a="http://schemas.openxmlformats.org/drawingml/2006/main">
              <a:ext uri="{FF2B5EF4-FFF2-40B4-BE49-F238E27FC236}">
                <a16:creationId xmlns:a16="http://schemas.microsoft.com/office/drawing/2014/main" id="{53124C45-4284-4398-B5D4-56C6F9323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714500"/>
            <a:ext cx="14287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000000"/>
                </a:solidFill>
              </a:defRPr>
            </a:pPr>
            <a:r>
              <a:rPr sz="1125">
                <a:solidFill>
                  <a:srgbClr val="000000"/>
                </a:solidFill>
              </a:rPr>
              <a:t>P1</a:t>
            </a:r>
          </a:p>
          <a:p xmlns:a="http://schemas.openxmlformats.org/drawingml/2006/main">
            <a:pPr algn="ctr">
              <a:defRPr sz="1125">
                <a:solidFill>
                  <a:srgbClr val="000000"/>
                </a:solidFill>
              </a:defRPr>
            </a:pPr>
            <a:r>
              <a:rPr sz="1125">
                <a:solidFill>
                  <a:srgbClr val="000000"/>
                </a:solidFill>
              </a:rPr>
              <a:t>radial profile</a:t>
            </a:r>
          </a:p>
        </p:txBody>
      </p:sp>
      <p:sp>
        <p:nvSpPr>
          <p:cNvPr id="55" name="P2 profile">
            <a:extLst xmlns:a="http://schemas.openxmlformats.org/drawingml/2006/main">
              <a:ext uri="{FF2B5EF4-FFF2-40B4-BE49-F238E27FC236}">
                <a16:creationId xmlns:a16="http://schemas.microsoft.com/office/drawing/2014/main" id="{D6CFBB4D-0601-439B-9DCD-1E58D6902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476500"/>
            <a:ext cx="14287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000000"/>
                </a:solidFill>
              </a:defRPr>
            </a:pPr>
            <a:r>
              <a:rPr sz="1125">
                <a:solidFill>
                  <a:srgbClr val="000000"/>
                </a:solidFill>
              </a:rPr>
              <a:t>P2</a:t>
            </a:r>
          </a:p>
          <a:p xmlns:a="http://schemas.openxmlformats.org/drawingml/2006/main">
            <a:pPr algn="ctr">
              <a:defRPr sz="1125">
                <a:solidFill>
                  <a:srgbClr val="000000"/>
                </a:solidFill>
              </a:defRPr>
            </a:pPr>
            <a:r>
              <a:rPr sz="1125">
                <a:solidFill>
                  <a:srgbClr val="000000"/>
                </a:solidFill>
              </a:rPr>
              <a:t>radial profile</a:t>
            </a:r>
          </a:p>
        </p:txBody>
      </p:sp>
      <p:sp>
        <p:nvSpPr>
          <p:cNvPr id="56" name="P3 profile">
            <a:extLst xmlns:a="http://schemas.openxmlformats.org/drawingml/2006/main">
              <a:ext uri="{FF2B5EF4-FFF2-40B4-BE49-F238E27FC236}">
                <a16:creationId xmlns:a16="http://schemas.microsoft.com/office/drawing/2014/main" id="{F3DEA6A2-0D8C-484C-A588-1BC66A30B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238500"/>
            <a:ext cx="14287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000000"/>
                </a:solidFill>
              </a:defRPr>
            </a:pPr>
            <a:r>
              <a:rPr sz="1125">
                <a:solidFill>
                  <a:srgbClr val="000000"/>
                </a:solidFill>
              </a:rPr>
              <a:t>P3</a:t>
            </a:r>
          </a:p>
          <a:p xmlns:a="http://schemas.openxmlformats.org/drawingml/2006/main">
            <a:pPr algn="ctr">
              <a:defRPr sz="1125">
                <a:solidFill>
                  <a:srgbClr val="000000"/>
                </a:solidFill>
              </a:defRPr>
            </a:pPr>
            <a:r>
              <a:rPr sz="1125">
                <a:solidFill>
                  <a:srgbClr val="000000"/>
                </a:solidFill>
              </a:rPr>
              <a:t>radial profile</a:t>
            </a:r>
          </a:p>
        </p:txBody>
      </p:sp>
      <p:sp>
        <p:nvSpPr>
          <p:cNvPr id="57" name="LR1 profile model">
            <a:extLst xmlns:a="http://schemas.openxmlformats.org/drawingml/2006/main">
              <a:ext uri="{FF2B5EF4-FFF2-40B4-BE49-F238E27FC236}">
                <a16:creationId xmlns:a16="http://schemas.microsoft.com/office/drawing/2014/main" id="{FC6087C2-AF07-4211-A4C2-D1BEE86AA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333625"/>
            <a:ext cx="1381125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4288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>
                <a:solidFill>
                  <a:srgbClr val="000000"/>
                </a:solidFill>
              </a:defRPr>
            </a:pPr>
            <a:r>
              <a:rPr sz="1350">
                <a:solidFill>
                  <a:srgbClr val="000000"/>
                </a:solidFill>
              </a:rPr>
              <a:t>LR1</a:t>
            </a:r>
          </a:p>
          <a:p xmlns:a="http://schemas.openxmlformats.org/drawingml/2006/main">
            <a:pPr algn="ctr">
              <a:defRPr sz="1350">
                <a:solidFill>
                  <a:srgbClr val="000000"/>
                </a:solidFill>
              </a:defRPr>
            </a:pPr>
            <a:r>
              <a:rPr sz="1350">
                <a:solidFill>
                  <a:srgbClr val="000000"/>
                </a:solidFill>
              </a:rPr>
              <a:t>profile model</a:t>
            </a:r>
          </a:p>
        </p:txBody>
      </p:sp>
      <p:sp>
        <p:nvSpPr>
          <p:cNvPr id="58" name="Measurement p target">
            <a:extLst xmlns:a="http://schemas.openxmlformats.org/drawingml/2006/main">
              <a:ext uri="{FF2B5EF4-FFF2-40B4-BE49-F238E27FC236}">
                <a16:creationId xmlns:a16="http://schemas.microsoft.com/office/drawing/2014/main" id="{F9C68B05-F0CE-49AC-95DF-C344C4DFC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238375"/>
            <a:ext cx="1285875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5F8FC"/>
          </a:solidFill>
          <a:ln xmlns:a="http://schemas.openxmlformats.org/drawingml/2006/main" w="14288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000000"/>
                </a:solidFill>
              </a:defRPr>
            </a:pPr>
            <a:r>
              <a:rPr sz="1125">
                <a:solidFill>
                  <a:srgbClr val="000000"/>
                </a:solidFill>
              </a:rPr>
              <a:t>p_target 1</a:t>
            </a:r>
          </a:p>
          <a:p xmlns:a="http://schemas.openxmlformats.org/drawingml/2006/main">
            <a:pPr algn="ctr">
              <a:defRPr sz="1125">
                <a:solidFill>
                  <a:srgbClr val="000000"/>
                </a:solidFill>
              </a:defRPr>
            </a:pPr>
            <a:r>
              <a:rPr sz="1125">
                <a:solidFill>
                  <a:srgbClr val="000000"/>
                </a:solidFill>
              </a:rPr>
              <a:t>p_target 2</a:t>
            </a:r>
          </a:p>
          <a:p xmlns:a="http://schemas.openxmlformats.org/drawingml/2006/main">
            <a:pPr algn="ctr">
              <a:defRPr sz="1125">
                <a:solidFill>
                  <a:srgbClr val="000000"/>
                </a:solidFill>
              </a:defRPr>
            </a:pPr>
            <a:r>
              <a:rPr sz="1125">
                <a:solidFill>
                  <a:srgbClr val="000000"/>
                </a:solidFill>
              </a:rPr>
              <a:t>p_target 3</a:t>
            </a:r>
          </a:p>
        </p:txBody>
      </p:sp>
      <p:sp>
        <p:nvSpPr>
          <p:cNvPr id="59" name="Target p target aggregate">
            <a:extLst xmlns:a="http://schemas.openxmlformats.org/drawingml/2006/main">
              <a:ext uri="{FF2B5EF4-FFF2-40B4-BE49-F238E27FC236}">
                <a16:creationId xmlns:a16="http://schemas.microsoft.com/office/drawing/2014/main" id="{294954D9-5CDC-4D55-8773-8AF5CC75A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333625"/>
            <a:ext cx="1571625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14288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000000"/>
                </a:solidFill>
              </a:defRPr>
            </a:pPr>
            <a:r>
              <a:rPr sz="1275">
                <a:solidFill>
                  <a:srgbClr val="000000"/>
                </a:solidFill>
              </a:rPr>
              <a:t>target p_target</a:t>
            </a:r>
          </a:p>
          <a:p xmlns:a="http://schemas.openxmlformats.org/drawingml/2006/main">
            <a:pPr algn="ctr">
              <a:defRPr sz="1275">
                <a:solidFill>
                  <a:srgbClr val="000000"/>
                </a:solidFill>
              </a:defRPr>
            </a:pPr>
            <a:r>
              <a:rPr sz="1275">
                <a:solidFill>
                  <a:srgbClr val="000000"/>
                </a:solidFill>
              </a:rPr>
              <a:t>logit average</a:t>
            </a:r>
          </a:p>
        </p:txBody>
      </p:sp>
      <p:sp>
        <p:nvSpPr>
          <p:cNvPr id="60" name="Symmetry availability gate">
            <a:extLst xmlns:a="http://schemas.openxmlformats.org/drawingml/2006/main">
              <a:ext uri="{FF2B5EF4-FFF2-40B4-BE49-F238E27FC236}">
                <a16:creationId xmlns:a16="http://schemas.microsoft.com/office/drawing/2014/main" id="{89E36C25-83C7-42BE-9E41-395FDCC8D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667125"/>
            <a:ext cx="18097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6E5"/>
          </a:solidFill>
          <a:ln xmlns:a="http://schemas.openxmlformats.org/drawingml/2006/main" w="14288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>
                <a:solidFill>
                  <a:srgbClr val="000000"/>
                </a:solidFill>
              </a:defRPr>
            </a:pPr>
            <a:r>
              <a:rPr sz="1050">
                <a:solidFill>
                  <a:srgbClr val="000000"/>
                </a:solidFill>
              </a:rPr>
              <a:t>Both breasts have</a:t>
            </a:r>
          </a:p>
          <a:p xmlns:a="http://schemas.openxmlformats.org/drawingml/2006/main">
            <a:pPr algn="ctr">
              <a:defRPr sz="1050">
                <a:solidFill>
                  <a:srgbClr val="000000"/>
                </a:solidFill>
              </a:defRPr>
            </a:pPr>
            <a:r>
              <a:rPr sz="1050">
                <a:solidFill>
                  <a:srgbClr val="000000"/>
                </a:solidFill>
              </a:rPr>
              <a:t>&gt;=2 valid measurements?</a:t>
            </a:r>
          </a:p>
        </p:txBody>
      </p:sp>
      <p:sp>
        <p:nvSpPr>
          <p:cNvPr id="61" name="Symmetry input to LR2">
            <a:extLst xmlns:a="http://schemas.openxmlformats.org/drawingml/2006/main">
              <a:ext uri="{FF2B5EF4-FFF2-40B4-BE49-F238E27FC236}">
                <a16:creationId xmlns:a16="http://schemas.microsoft.com/office/drawing/2014/main" id="{9191F082-3FD3-4904-9D48-A4B063A7A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667125"/>
            <a:ext cx="23812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6E5"/>
          </a:solidFill>
          <a:ln xmlns:a="http://schemas.openxmlformats.org/drawingml/2006/main" w="14288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000000"/>
                </a:solidFill>
              </a:defRPr>
            </a:pPr>
            <a:r>
              <a:rPr sz="900">
                <a:solidFill>
                  <a:srgbClr val="000000"/>
                </a:solidFill>
              </a:rPr>
              <a:t>Symmetry input to LR2</a:t>
            </a:r>
          </a:p>
          <a:p xmlns:a="http://schemas.openxmlformats.org/drawingml/2006/main">
            <a:pPr algn="ctr">
              <a:defRPr sz="900">
                <a:solidFill>
                  <a:srgbClr val="000000"/>
                </a:solidFill>
              </a:defRPr>
            </a:pPr>
            <a:r>
              <a:rPr sz="900">
                <a:solidFill>
                  <a:srgbClr val="000000"/>
                </a:solidFill>
              </a:rPr>
              <a:t>Yes: SK Core 4 (Wasserstein, RMS1, RMS2, peak delta)</a:t>
            </a:r>
          </a:p>
          <a:p xmlns:a="http://schemas.openxmlformats.org/drawingml/2006/main">
            <a:pPr algn="ctr">
              <a:defRPr sz="900">
                <a:solidFill>
                  <a:srgbClr val="000000"/>
                </a:solidFill>
              </a:defRPr>
            </a:pPr>
            <a:r>
              <a:rPr sz="900">
                <a:solidFill>
                  <a:srgbClr val="000000"/>
                </a:solidFill>
              </a:rPr>
              <a:t>No: zero vector; reliability: low</a:t>
            </a:r>
          </a:p>
        </p:txBody>
      </p:sp>
      <p:sp>
        <p:nvSpPr>
          <p:cNvPr id="62" name="LR2 refinement">
            <a:extLst xmlns:a="http://schemas.openxmlformats.org/drawingml/2006/main">
              <a:ext uri="{FF2B5EF4-FFF2-40B4-BE49-F238E27FC236}">
                <a16:creationId xmlns:a16="http://schemas.microsoft.com/office/drawing/2014/main" id="{D1D46F84-59A7-4B6C-9F1B-A21BE8743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047875"/>
            <a:ext cx="1857375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DDEBF7"/>
          </a:solidFill>
          <a:ln xmlns:a="http://schemas.openxmlformats.org/drawingml/2006/main" w="14288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000000"/>
                </a:solidFill>
              </a:defRPr>
            </a:pPr>
            <a:r>
              <a:rPr sz="1200">
                <a:solidFill>
                  <a:srgbClr val="000000"/>
                </a:solidFill>
              </a:rPr>
              <a:t>LR2 refinement</a:t>
            </a:r>
          </a:p>
          <a:p xmlns:a="http://schemas.openxmlformats.org/drawingml/2006/main">
            <a:pPr algn="ctr">
              <a:defRPr sz="1200">
                <a:solidFill>
                  <a:srgbClr val="000000"/>
                </a:solidFill>
              </a:defRPr>
            </a:pPr>
            <a:r>
              <a:rPr sz="1200">
                <a:solidFill>
                  <a:srgbClr val="000000"/>
                </a:solidFill>
              </a:rPr>
              <a:t>target p_target + age</a:t>
            </a:r>
          </a:p>
          <a:p xmlns:a="http://schemas.openxmlformats.org/drawingml/2006/main">
            <a:pPr algn="ctr">
              <a:defRPr sz="1200">
                <a:solidFill>
                  <a:srgbClr val="000000"/>
                </a:solidFill>
              </a:defRPr>
            </a:pPr>
            <a:r>
              <a:rPr sz="1200">
                <a:solidFill>
                  <a:srgbClr val="000000"/>
                </a:solidFill>
              </a:rPr>
              <a:t>+ symmetry / zeros</a:t>
            </a:r>
          </a:p>
        </p:txBody>
      </p:sp>
      <p:sp>
        <p:nvSpPr>
          <p:cNvPr id="63" name="Final p cancer">
            <a:extLst xmlns:a="http://schemas.openxmlformats.org/drawingml/2006/main">
              <a:ext uri="{FF2B5EF4-FFF2-40B4-BE49-F238E27FC236}">
                <a16:creationId xmlns:a16="http://schemas.microsoft.com/office/drawing/2014/main" id="{1CCFD13E-1E77-463B-92F6-FA2072DD3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333625"/>
            <a:ext cx="109537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1F1E5"/>
          </a:solidFill>
          <a:ln xmlns:a="http://schemas.openxmlformats.org/drawingml/2006/main" w="14288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000000"/>
                </a:solidFill>
              </a:defRPr>
            </a:pPr>
            <a:r>
              <a:rPr sz="1275">
                <a:solidFill>
                  <a:srgbClr val="000000"/>
                </a:solidFill>
              </a:rPr>
              <a:t>Final p_cancer</a:t>
            </a:r>
          </a:p>
        </p:txBody>
      </p:sp>
      <p:sp>
        <p:nvSpPr>
          <p:cNvPr id="64" name="Fixed threshold">
            <a:extLst xmlns:a="http://schemas.openxmlformats.org/drawingml/2006/main">
              <a:ext uri="{FF2B5EF4-FFF2-40B4-BE49-F238E27FC236}">
                <a16:creationId xmlns:a16="http://schemas.microsoft.com/office/drawing/2014/main" id="{D6B1C326-BC04-462C-B005-FF8A61C8F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3333750"/>
            <a:ext cx="109537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1F1E5"/>
          </a:solidFill>
          <a:ln xmlns:a="http://schemas.openxmlformats.org/drawingml/2006/main" w="14288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>
                <a:solidFill>
                  <a:srgbClr val="000000"/>
                </a:solidFill>
              </a:defRPr>
            </a:pPr>
            <a:r>
              <a:rPr sz="1050">
                <a:solidFill>
                  <a:srgbClr val="000000"/>
                </a:solidFill>
              </a:rPr>
              <a:t>Fixed threshold</a:t>
            </a:r>
          </a:p>
          <a:p xmlns:a="http://schemas.openxmlformats.org/drawingml/2006/main">
            <a:pPr algn="ctr">
              <a:defRPr sz="1050">
                <a:solidFill>
                  <a:srgbClr val="000000"/>
                </a:solidFill>
              </a:defRPr>
            </a:pPr>
            <a:r>
              <a:rPr sz="1050">
                <a:solidFill>
                  <a:srgbClr val="000000"/>
                </a:solidFill>
              </a:rPr>
              <a:t>0.24666</a:t>
            </a:r>
          </a:p>
        </p:txBody>
      </p:sp>
      <p:sp>
        <p:nvSpPr>
          <p:cNvPr id="65" name="Biopsy action">
            <a:extLst xmlns:a="http://schemas.openxmlformats.org/drawingml/2006/main">
              <a:ext uri="{FF2B5EF4-FFF2-40B4-BE49-F238E27FC236}">
                <a16:creationId xmlns:a16="http://schemas.microsoft.com/office/drawing/2014/main" id="{1DBCDF89-7735-4560-9624-CA79194C0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4381500"/>
            <a:ext cx="14287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E1F1E5"/>
          </a:solidFill>
          <a:ln xmlns:a="http://schemas.openxmlformats.org/drawingml/2006/main" w="14288">
            <a:solidFill>
              <a:srgbClr val="CAD5E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>
                <a:solidFill>
                  <a:srgbClr val="000000"/>
                </a:solidFill>
              </a:defRPr>
            </a:pPr>
            <a:r>
              <a:rPr sz="1050">
                <a:solidFill>
                  <a:srgbClr val="000000"/>
                </a:solidFill>
              </a:rPr>
              <a:t>Biopsy action</a:t>
            </a:r>
          </a:p>
          <a:p xmlns:a="http://schemas.openxmlformats.org/drawingml/2006/main">
            <a:pPr algn="ctr">
              <a:defRPr sz="1050">
                <a:solidFill>
                  <a:srgbClr val="000000"/>
                </a:solidFill>
              </a:defRPr>
            </a:pPr>
            <a:r>
              <a:rPr sz="1050">
                <a:solidFill>
                  <a:srgbClr val="000000"/>
                </a:solidFill>
              </a:rPr>
              <a:t>required / not required</a:t>
            </a:r>
          </a:p>
        </p:txBody>
      </p:sp>
      <p:cxnSp>
        <p:nvCxnSpPr>
          <p:cNvPr id="108" name=""/>
          <p:cNvCxnSpPr>
            <a:stCxn xmlns:a="http://schemas.openxmlformats.org/drawingml/2006/main" id="54" idx="3"/>
            <a:endCxn xmlns:a="http://schemas.openxmlformats.org/drawingml/2006/main" id="57" idx="1"/>
          </p:cNvCxnSpPr>
          <p:nvPr/>
        </p:nvCxnSpPr>
        <p:spPr>
          <a:xfrm xmlns:a="http://schemas.openxmlformats.org/drawingml/2006/main">
            <a:off x="1857375" y="1971675"/>
            <a:ext cx="476250" cy="7715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45556C"/>
            </a:solidFill>
            <a:prstDash val="solid"/>
            <a:tailEnd type="arrow" w="med" len="med"/>
          </a:ln>
        </p:spPr>
      </p:cxnSp>
      <p:cxnSp>
        <p:nvCxnSpPr>
          <p:cNvPr id="109" name=""/>
          <p:cNvCxnSpPr>
            <a:stCxn xmlns:a="http://schemas.openxmlformats.org/drawingml/2006/main" id="55" idx="3"/>
            <a:endCxn xmlns:a="http://schemas.openxmlformats.org/drawingml/2006/main" id="57" idx="1"/>
          </p:cNvCxnSpPr>
          <p:nvPr/>
        </p:nvCxnSpPr>
        <p:spPr>
          <a:xfrm xmlns:a="http://schemas.openxmlformats.org/drawingml/2006/main">
            <a:off x="1857375" y="2733675"/>
            <a:ext cx="476250" cy="95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45556C"/>
            </a:solidFill>
            <a:prstDash val="solid"/>
            <a:tailEnd type="arrow" w="med" len="med"/>
          </a:ln>
        </p:spPr>
      </p:cxnSp>
      <p:cxnSp>
        <p:nvCxnSpPr>
          <p:cNvPr id="110" name=""/>
          <p:cNvCxnSpPr>
            <a:stCxn xmlns:a="http://schemas.openxmlformats.org/drawingml/2006/main" id="56" idx="3"/>
            <a:endCxn xmlns:a="http://schemas.openxmlformats.org/drawingml/2006/main" id="57" idx="1"/>
          </p:cNvCxnSpPr>
          <p:nvPr/>
        </p:nvCxnSpPr>
        <p:spPr>
          <a:xfrm xmlns:a="http://schemas.openxmlformats.org/drawingml/2006/main" flipV="1">
            <a:off x="1857375" y="2743200"/>
            <a:ext cx="476250" cy="7524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45556C"/>
            </a:solidFill>
            <a:prstDash val="solid"/>
            <a:tailEnd type="arrow" w="med" len="med"/>
          </a:ln>
        </p:spPr>
      </p:cxnSp>
      <p:cxnSp>
        <p:nvCxnSpPr>
          <p:cNvPr id="111" name=""/>
          <p:cNvCxnSpPr>
            <a:stCxn xmlns:a="http://schemas.openxmlformats.org/drawingml/2006/main" id="57" idx="3"/>
            <a:endCxn xmlns:a="http://schemas.openxmlformats.org/drawingml/2006/main" id="58" idx="1"/>
          </p:cNvCxnSpPr>
          <p:nvPr/>
        </p:nvCxnSpPr>
        <p:spPr>
          <a:xfrm xmlns:a="http://schemas.openxmlformats.org/drawingml/2006/main">
            <a:off x="3714750" y="2743200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5556C"/>
            </a:solidFill>
            <a:prstDash val="solid"/>
            <a:tailEnd type="arrow" w="med" len="med"/>
          </a:ln>
        </p:spPr>
      </p:cxnSp>
      <p:cxnSp>
        <p:nvCxnSpPr>
          <p:cNvPr id="112" name=""/>
          <p:cNvCxnSpPr>
            <a:stCxn xmlns:a="http://schemas.openxmlformats.org/drawingml/2006/main" id="58" idx="3"/>
            <a:endCxn xmlns:a="http://schemas.openxmlformats.org/drawingml/2006/main" id="59" idx="1"/>
          </p:cNvCxnSpPr>
          <p:nvPr/>
        </p:nvCxnSpPr>
        <p:spPr>
          <a:xfrm xmlns:a="http://schemas.openxmlformats.org/drawingml/2006/main">
            <a:off x="5476875" y="2743200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5556C"/>
            </a:solidFill>
            <a:prstDash val="solid"/>
            <a:tailEnd type="arrow" w="med" len="med"/>
          </a:ln>
        </p:spPr>
      </p:cxnSp>
      <p:cxnSp>
        <p:nvCxnSpPr>
          <p:cNvPr id="113" name=""/>
          <p:cNvCxnSpPr>
            <a:stCxn xmlns:a="http://schemas.openxmlformats.org/drawingml/2006/main" id="59" idx="3"/>
            <a:endCxn xmlns:a="http://schemas.openxmlformats.org/drawingml/2006/main" id="62" idx="1"/>
          </p:cNvCxnSpPr>
          <p:nvPr/>
        </p:nvCxnSpPr>
        <p:spPr>
          <a:xfrm xmlns:a="http://schemas.openxmlformats.org/drawingml/2006/main" flipV="1">
            <a:off x="7524750" y="2505075"/>
            <a:ext cx="1095375" cy="2381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45556C"/>
            </a:solidFill>
            <a:prstDash val="solid"/>
            <a:tailEnd type="arrow" w="med" len="med"/>
          </a:ln>
        </p:spPr>
      </p:cxnSp>
      <p:cxnSp>
        <p:nvCxnSpPr>
          <p:cNvPr id="114" name=""/>
          <p:cNvCxnSpPr>
            <a:stCxn xmlns:a="http://schemas.openxmlformats.org/drawingml/2006/main" id="60" idx="3"/>
            <a:endCxn xmlns:a="http://schemas.openxmlformats.org/drawingml/2006/main" id="61" idx="1"/>
          </p:cNvCxnSpPr>
          <p:nvPr/>
        </p:nvCxnSpPr>
        <p:spPr>
          <a:xfrm xmlns:a="http://schemas.openxmlformats.org/drawingml/2006/main">
            <a:off x="7762875" y="3971925"/>
            <a:ext cx="381000" cy="1333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45556C"/>
            </a:solidFill>
            <a:prstDash val="solid"/>
            <a:tailEnd type="arrow" w="med" len="med"/>
          </a:ln>
        </p:spPr>
      </p:cxnSp>
      <p:cxnSp>
        <p:nvCxnSpPr>
          <p:cNvPr id="115" name=""/>
          <p:cNvCxnSpPr>
            <a:stCxn xmlns:a="http://schemas.openxmlformats.org/drawingml/2006/main" id="61" idx="0"/>
            <a:endCxn xmlns:a="http://schemas.openxmlformats.org/drawingml/2006/main" id="62" idx="2"/>
          </p:cNvCxnSpPr>
          <p:nvPr/>
        </p:nvCxnSpPr>
        <p:spPr>
          <a:xfrm xmlns:a="http://schemas.openxmlformats.org/drawingml/2006/main" flipV="1">
            <a:off x="9334500" y="2962275"/>
            <a:ext cx="214313" cy="7048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45556C"/>
            </a:solidFill>
            <a:prstDash val="solid"/>
            <a:tailEnd type="arrow" w="med" len="med"/>
          </a:ln>
        </p:spPr>
      </p:cxnSp>
      <p:cxnSp>
        <p:nvCxnSpPr>
          <p:cNvPr id="116" name=""/>
          <p:cNvCxnSpPr>
            <a:stCxn xmlns:a="http://schemas.openxmlformats.org/drawingml/2006/main" id="62" idx="3"/>
            <a:endCxn xmlns:a="http://schemas.openxmlformats.org/drawingml/2006/main" id="63" idx="1"/>
          </p:cNvCxnSpPr>
          <p:nvPr/>
        </p:nvCxnSpPr>
        <p:spPr>
          <a:xfrm xmlns:a="http://schemas.openxmlformats.org/drawingml/2006/main">
            <a:off x="10477500" y="2505075"/>
            <a:ext cx="333375" cy="1047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45556C"/>
            </a:solidFill>
            <a:prstDash val="solid"/>
            <a:tailEnd type="arrow" w="med" len="med"/>
          </a:ln>
        </p:spPr>
      </p:cxnSp>
      <p:cxnSp>
        <p:nvCxnSpPr>
          <p:cNvPr id="117" name=""/>
          <p:cNvCxnSpPr>
            <a:stCxn xmlns:a="http://schemas.openxmlformats.org/drawingml/2006/main" id="63" idx="2"/>
            <a:endCxn xmlns:a="http://schemas.openxmlformats.org/drawingml/2006/main" id="64" idx="0"/>
          </p:cNvCxnSpPr>
          <p:nvPr/>
        </p:nvCxnSpPr>
        <p:spPr>
          <a:xfrm xmlns:a="http://schemas.openxmlformats.org/drawingml/2006/main">
            <a:off x="11358563" y="2886075"/>
            <a:ext cx="0" cy="4476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5556C"/>
            </a:solidFill>
            <a:prstDash val="solid"/>
            <a:tailEnd type="arrow" w="med" len="med"/>
          </a:ln>
        </p:spPr>
      </p:cxnSp>
      <p:cxnSp>
        <p:nvCxnSpPr>
          <p:cNvPr id="118" name=""/>
          <p:cNvCxnSpPr>
            <a:stCxn xmlns:a="http://schemas.openxmlformats.org/drawingml/2006/main" id="64" idx="2"/>
            <a:endCxn xmlns:a="http://schemas.openxmlformats.org/drawingml/2006/main" id="65" idx="0"/>
          </p:cNvCxnSpPr>
          <p:nvPr/>
        </p:nvCxnSpPr>
        <p:spPr>
          <a:xfrm xmlns:a="http://schemas.openxmlformats.org/drawingml/2006/main" flipH="1">
            <a:off x="11191875" y="3886200"/>
            <a:ext cx="166688" cy="4953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45556C"/>
            </a:solidFill>
            <a:prstDash val="solid"/>
            <a:tailEnd type="arrow" w="med" len="med"/>
          </a:ln>
        </p:spPr>
      </p:cxnSp>
    </p:spTree>
    <p:extLst>
      <p:ext uri="{BB962C8B-B14F-4D97-AF65-F5344CB8AC3E}">
        <p14:creationId xmlns:p14="http://schemas.microsoft.com/office/powerpoint/2010/main" val="21206140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39AD3EA8-D1F8-45EB-9FD2-CB36AC974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09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0">
                <a:solidFill>
                  <a:srgbClr val="000000"/>
                </a:solidFill>
              </a:defRPr>
            </a:pPr>
            <a:r>
              <a:rPr sz="3300" b="0">
                <a:solidFill>
                  <a:srgbClr val="000000"/>
                </a:solidFill>
              </a:rPr>
              <a:t>Validation and final fit answer different questions</a:t>
            </a: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D658E83-0632-4E16-BFBC-7FE6F58AB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45556C"/>
                </a:solidFill>
              </a:defRPr>
            </a:pPr>
            <a:r>
              <a:rPr sz="1500">
                <a:solidFill>
                  <a:srgbClr val="45556C"/>
                </a:solidFill>
              </a:rPr>
              <a:t>The same patient never appears in both train and held-out test partitions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C194CF2-B230-4791-A79E-98C288468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00000"/>
                </a:solidFill>
              </a:defRPr>
            </a:pPr>
            <a:r>
              <a:rPr sz="2250" b="1">
                <a:solidFill>
                  <a:srgbClr val="000000"/>
                </a:solidFill>
              </a:rPr>
              <a:t>Patient-safe evaluation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AEA42A9-9764-4EDD-A6F6-53AAC3F59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95500"/>
            <a:ext cx="495300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• Repeated stratified 5-fold x20.</a:t>
            </a:r>
          </a:p>
          <a:p xmlns:a="http://schemas.openxmlformats.org/drawingml/2006/main">
            <a:pPr>
              <a:buNone/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• 100 held-out patient folds.</a:t>
            </a:r>
          </a:p>
          <a:p xmlns:a="http://schemas.openxmlformats.org/drawingml/2006/main">
            <a:pPr>
              <a:buNone/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• Threshold is derived from each training fold, then applied to its held-out fold.</a:t>
            </a:r>
          </a:p>
          <a:p xmlns:a="http://schemas.openxmlformats.org/drawingml/2006/main">
            <a:pPr>
              <a:buNone/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• This is the honest evidence line.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D79794B-6057-4117-B2FC-6A5F65DFD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57162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00000"/>
                </a:solidFill>
              </a:defRPr>
            </a:pPr>
            <a:r>
              <a:rPr sz="2250" b="1">
                <a:solidFill>
                  <a:srgbClr val="000000"/>
                </a:solidFill>
              </a:rPr>
              <a:t>Final train-on-all fit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A84A7939-ABC7-4F22-B433-89FE6BCF2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95300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• Fixed regularization: LR1 C=0.1; LR2 C=0.3.</a:t>
            </a:r>
          </a:p>
          <a:p xmlns:a="http://schemas.openxmlformats.org/drawingml/2006/main">
            <a:pPr>
              <a:buNone/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• Fit on all 175 accepted target cases.</a:t>
            </a:r>
          </a:p>
          <a:p xmlns:a="http://schemas.openxmlformats.org/drawingml/2006/main">
            <a:pPr>
              <a:buNone/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• Deployment threshold: p_cancer = 0.24666.</a:t>
            </a:r>
          </a:p>
          <a:p xmlns:a="http://schemas.openxmlformats.org/drawingml/2006/main">
            <a:pPr>
              <a:buNone/>
              <a:defRPr sz="1800" b="0">
                <a:solidFill>
                  <a:srgbClr val="000000"/>
                </a:solidFill>
              </a:defRPr>
            </a:pPr>
            <a:r>
              <a:rPr sz="1800" b="0">
                <a:solidFill>
                  <a:srgbClr val="000000"/>
                </a:solidFill>
              </a:rPr>
              <a:t>• Chosen to reach sensitivity &gt;=0.95 in final fit.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35180EC-879C-4C4D-A1BC-4EDE051F2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9587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00000"/>
                </a:solidFill>
              </a:defRPr>
            </a:pPr>
            <a:r>
              <a:rPr sz="2250" b="1">
                <a:solidFill>
                  <a:srgbClr val="000000"/>
                </a:solidFill>
              </a:rPr>
              <a:t>Interpretation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7592CFC-72FF-421E-AFE3-8BC48CF1E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5095875"/>
            <a:ext cx="7620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000000"/>
                </a:solidFill>
              </a:defRPr>
            </a:pPr>
            <a:r>
              <a:rPr sz="1950" b="0">
                <a:solidFill>
                  <a:srgbClr val="000000"/>
                </a:solidFill>
              </a:rPr>
              <a:t>Train-on-all describes the frozen artifact; it does not replace patient-safe validation or an independent clinical validation cohort.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1E0F79A4-FD16-4EFF-9C71-74EAC9DBB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05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>
                <a:solidFill>
                  <a:srgbClr val="62748E"/>
                </a:solidFill>
              </a:defRPr>
            </a:pPr>
            <a:r>
              <a:rPr sz="1200">
                <a:solidFill>
                  <a:srgbClr val="62748E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34585901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35532A2-E4EA-4CF7-8969-879A65AF2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09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0">
                <a:solidFill>
                  <a:srgbClr val="000000"/>
                </a:solidFill>
              </a:defRPr>
            </a:pPr>
            <a:r>
              <a:rPr sz="3300" b="0">
                <a:solidFill>
                  <a:srgbClr val="000000"/>
                </a:solidFill>
              </a:rPr>
              <a:t>Current evidence is limited by cohort size</a:t>
            </a: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30BF1CD-AEAD-4581-863E-31FC75E1E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45556C"/>
                </a:solidFill>
              </a:defRPr>
            </a:pPr>
            <a:r>
              <a:rPr sz="1500">
                <a:solidFill>
                  <a:srgbClr val="45556C"/>
                </a:solidFill>
              </a:rPr>
              <a:t>Frozen Aramina 0.2.12-beta | T100 biopsy cohort | decision threshold p_cancer = 0.24666</a:t>
            </a:r>
          </a:p>
        </p:txBody>
      </p:sp>
      <p:graphicFrame>
        <p:nvGraphicFramePr>
          <p:cNvPr id="9" name="Table 7"/>
          <p:cNvGraphicFramePr/>
          <p:nvPr/>
        </p:nvGraphicFramePr>
        <p:xfrm>
          <a:off xmlns:a="http://schemas.openxmlformats.org/drawingml/2006/main" x="666750" y="1524000"/>
          <a:ext xmlns:a="http://schemas.openxmlformats.org/drawingml/2006/main" cx="10858500" cy="34290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1809750"/>
                <a:gridCol w="1809750"/>
                <a:gridCol w="1809750"/>
                <a:gridCol w="1809750"/>
                <a:gridCol w="1809750"/>
                <a:gridCol w="1809750"/>
              </a:tblGrid>
              <a:tr h="38100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00000"/>
                          </a:solidFill>
                        </a:rPr>
                        <a:t>Evidence</a:t>
                      </a:r>
                    </a:p>
                  </a:txBody>
                  <a:tcPr marL="91440" marR="91440" marT="45720" marB="4572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00000"/>
                          </a:solidFill>
                        </a:rPr>
                        <a:t>Method</a:t>
                      </a:r>
                    </a:p>
                  </a:txBody>
                  <a:tcPr marL="91440" marR="91440" marT="45720" marB="4572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</a:rPr>
                        <a:t>ROC AUC</a:t>
                      </a:r>
                    </a:p>
                  </a:txBody>
                  <a:tcPr marL="91440" marR="91440" marT="45720" marB="45720">
                    <a:solidFill>
                      <a:srgbClr val="45556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</a:rPr>
                        <a:t>Sensitivity</a:t>
                      </a:r>
                    </a:p>
                  </a:txBody>
                  <a:tcPr marL="91440" marR="91440" marT="45720" marB="45720">
                    <a:solidFill>
                      <a:srgbClr val="45556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</a:rPr>
                        <a:t>Specificity</a:t>
                      </a:r>
                    </a:p>
                  </a:txBody>
                  <a:tcPr marL="91440" marR="91440" marT="45720" marB="45720">
                    <a:solidFill>
                      <a:srgbClr val="45556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00000"/>
                          </a:solidFill>
                        </a:rPr>
                        <a:t>Interpretation</a:t>
                      </a:r>
                    </a:p>
                  </a:txBody>
                  <a:tcPr marL="91440" marR="91440" marT="45720" marB="45720">
                    <a:solidFill>
                      <a:srgbClr val="F1F5F9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Patient-safe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5-fold x20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0000"/>
                          </a:solidFill>
                        </a:rPr>
                        <a:t>0.645 +/- 0.069</a:t>
                      </a:r>
                    </a:p>
                  </a:txBody>
                  <a:tcPr marL="91440" marR="91440" marT="45720" marB="45720"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0000"/>
                          </a:solidFill>
                        </a:rPr>
                        <a:t>0.818 +/- 0.099</a:t>
                      </a:r>
                    </a:p>
                  </a:txBody>
                  <a:tcPr marL="91440" marR="91440" marT="45720" marB="45720"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00000"/>
                          </a:solidFill>
                        </a:rPr>
                        <a:t>0.376 +/- 0.133</a:t>
                      </a:r>
                    </a:p>
                  </a:txBody>
                  <a:tcPr marL="91440" marR="91440" marT="45720" marB="45720"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Held-out folds</a:t>
                      </a:r>
                    </a:p>
                  </a:txBody>
                  <a:tcPr marL="91440" marR="91440" marT="45720" marB="45720"/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Final fit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Train on all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0.865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0.961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0.495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In-sample</a:t>
                      </a:r>
                    </a:p>
                  </a:txBody>
                  <a:tcPr marL="91440" marR="91440" marT="45720" marB="45720"/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Cohort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175 target cases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76 CANCER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99 BENIGN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164 patients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T100 QC</a:t>
                      </a:r>
                    </a:p>
                  </a:txBody>
                  <a:tcPr marL="91440" marR="91440" marT="45720" marB="45720"/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Threshold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p_cancer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0.24666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TP 73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TN 49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Final fit</a:t>
                      </a:r>
                    </a:p>
                  </a:txBody>
                  <a:tcPr marL="91440" marR="91440" marT="45720" marB="45720"/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Errors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Final fit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FN 3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FP 50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NPV 0.942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Not independent</a:t>
                      </a:r>
                    </a:p>
                  </a:txBody>
                  <a:tcPr marL="91440" marR="91440" marT="45720" marB="45720"/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Predictive value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Final fit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PPV 0.593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NPV 0.942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BA 0.728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In-sample</a:t>
                      </a:r>
                    </a:p>
                  </a:txBody>
                  <a:tcPr marL="91440" marR="91440" marT="45720" marB="45720"/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Threshold policy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Final fit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Target sensitivity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&gt;=0.95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Reached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Fixed route</a:t>
                      </a:r>
                    </a:p>
                  </a:txBody>
                  <a:tcPr marL="91440" marR="91440" marT="45720" marB="45720"/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Limitation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Validation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No external cohort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Small 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Selected cohort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Research draft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B61B025-CE07-40D4-8C24-68B8B199D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86375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• Current evidence supports research-draft decision support, not an autonomous diagnosis claim.</a:t>
            </a:r>
          </a:p>
          <a:p xmlns:a="http://schemas.openxmlformats.org/drawingml/2006/main">
            <a:pPr>
              <a:buNone/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• Larger independent data are required before stronger performance claims.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1F26249-4D4C-4E27-BD39-34F2253C0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05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>
                <a:solidFill>
                  <a:srgbClr val="62748E"/>
                </a:solidFill>
              </a:defRPr>
            </a:pPr>
            <a:r>
              <a:rPr sz="1200">
                <a:solidFill>
                  <a:srgbClr val="62748E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94945579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2026-07-27T09:49:46.4150000Z</dcterms:created>
  <dcterms:modified xsi:type="dcterms:W3CDTF">2026-07-27T09:49:46.4150000Z</dcterms:modified>
</coreProperties>
</file>