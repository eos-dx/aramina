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36624330564b73" /><Relationship Type="http://schemas.openxmlformats.org/officeDocument/2006/relationships/extended-properties" Target="/docProps/app.xml" Id="Rdfe4dc658634436e" /><Relationship Type="http://schemas.openxmlformats.org/officeDocument/2006/relationships/officeDocument" Target="/ppt/presentation.xml" Id="Rf03f5d704c1041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6699cb13874108"/>
  </p:sldMasterIdLst>
  <p:notesMasterIdLst>
    <p:notesMasterId xmlns:r="http://schemas.openxmlformats.org/officeDocument/2006/relationships" r:id="R0340d23f8b70409e"/>
  </p:notesMasterIdLst>
  <p:sldIdLst>
    <p:sldId xmlns:r="http://schemas.openxmlformats.org/officeDocument/2006/relationships" id="256" r:id="R4393676d1cf8418a"/>
    <p:sldId xmlns:r="http://schemas.openxmlformats.org/officeDocument/2006/relationships" id="257" r:id="R5f869ffd90c946ad"/>
    <p:sldId xmlns:r="http://schemas.openxmlformats.org/officeDocument/2006/relationships" id="258" r:id="R24ba31a501cf45b4"/>
    <p:sldId xmlns:r="http://schemas.openxmlformats.org/officeDocument/2006/relationships" id="259" r:id="R080c6eda99ec408f"/>
    <p:sldId xmlns:r="http://schemas.openxmlformats.org/officeDocument/2006/relationships" id="260" r:id="Rda0e9ac42b5d43c6"/>
    <p:sldId xmlns:r="http://schemas.openxmlformats.org/officeDocument/2006/relationships" id="261" r:id="Rc4f6562058aa4323"/>
    <p:sldId xmlns:r="http://schemas.openxmlformats.org/officeDocument/2006/relationships" id="262" r:id="Rfee08a818a21477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378486f6954510" /><Relationship Type="http://schemas.openxmlformats.org/officeDocument/2006/relationships/slideMaster" Target="/ppt/slideMasters/slideMaster1.xml" Id="Rb66699cb13874108" /><Relationship Type="http://schemas.openxmlformats.org/officeDocument/2006/relationships/notesMaster" Target="/ppt/notesMasters/notesMaster1.xml" Id="R0340d23f8b70409e" /><Relationship Type="http://schemas.openxmlformats.org/officeDocument/2006/relationships/presProps" Target="/ppt/presProps.xml" Id="R39e4d75034274e15" /><Relationship Type="http://schemas.openxmlformats.org/officeDocument/2006/relationships/viewProps" Target="/ppt/viewProps.xml" Id="Rf50f6817cb424574" /><Relationship Type="http://schemas.openxmlformats.org/officeDocument/2006/relationships/tableStyles" Target="/ppt/tableStyles.xml" Id="R14cbf2db722341c1" /><Relationship Type="http://schemas.openxmlformats.org/officeDocument/2006/relationships/slide" Target="/ppt/slides/slide1.xml" Id="R4393676d1cf8418a" /><Relationship Type="http://schemas.openxmlformats.org/officeDocument/2006/relationships/slide" Target="/ppt/slides/slide2.xml" Id="R5f869ffd90c946ad" /><Relationship Type="http://schemas.openxmlformats.org/officeDocument/2006/relationships/slide" Target="/ppt/slides/slide3.xml" Id="R24ba31a501cf45b4" /><Relationship Type="http://schemas.openxmlformats.org/officeDocument/2006/relationships/slide" Target="/ppt/slides/slide4.xml" Id="R080c6eda99ec408f" /><Relationship Type="http://schemas.openxmlformats.org/officeDocument/2006/relationships/slide" Target="/ppt/slides/slide5.xml" Id="Rda0e9ac42b5d43c6" /><Relationship Type="http://schemas.openxmlformats.org/officeDocument/2006/relationships/slide" Target="/ppt/slides/slide6.xml" Id="Rc4f6562058aa4323" /><Relationship Type="http://schemas.openxmlformats.org/officeDocument/2006/relationships/slide" Target="/ppt/slides/slide7.xml" Id="Rfee08a818a2147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921366827447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68028fae334cc4" /><Relationship Type="http://schemas.openxmlformats.org/officeDocument/2006/relationships/notesMaster" Target="/ppt/notesMasters/notesMaster1.xml" Id="R782591f5eed342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32568616ce4d4d" /><Relationship Type="http://schemas.openxmlformats.org/officeDocument/2006/relationships/notesMaster" Target="/ppt/notesMasters/notesMaster1.xml" Id="Rc4f01a1e09e049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b92edefcbe40a4" /><Relationship Type="http://schemas.openxmlformats.org/officeDocument/2006/relationships/notesMaster" Target="/ppt/notesMasters/notesMaster1.xml" Id="R943f5c0261e442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76d90d58acb43e2" /><Relationship Type="http://schemas.openxmlformats.org/officeDocument/2006/relationships/notesMaster" Target="/ppt/notesMasters/notesMaster1.xml" Id="R1f39304a794b47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4620fb18df416d" /><Relationship Type="http://schemas.openxmlformats.org/officeDocument/2006/relationships/notesMaster" Target="/ppt/notesMasters/notesMaster1.xml" Id="R310c8dadae4a4c7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b94709df24414e" /><Relationship Type="http://schemas.openxmlformats.org/officeDocument/2006/relationships/notesMaster" Target="/ppt/notesMasters/notesMaster1.xml" Id="R15de62de616543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8d831d575cb485d" /><Relationship Type="http://schemas.openxmlformats.org/officeDocument/2006/relationships/notesMaster" Target="/ppt/notesMasters/notesMaster1.xml" Id="Ra42344b9636141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Aramina/docs/modeling/aramina_t100_target_case_model_v0_1.md; intended use and model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Aramina/examples/outputs/preprocessing_and_training/aramina_target_breast_risk_preprocessing_and_training_20260724T125256Z_552f0758/preprocessing/cohort_summary.json; Aramina/docs/modeling/current_model_dataframe_v0_1.md.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Clinical_trials/analysis/aramina_preprocessing_v0_1/agbh_monochromaticity_by_batch.png; Aramina/docs/agbh_quality_exclusions.md; Aramina/docs/modeling/current_model_dataframe_v0_1.md.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Aramina/config/preprocessing/shared/aramina_policy_v0_1.yaml; Aramina/config/preprocessing/shared/aramina_pipeline_v0_1.yaml; frozen cohort dataframe inspection.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Aramina/docs/modeling/aramina_t100_target_case_model_v0_1.md; Aramina/docs/modeling/sk_symmetry_features_v0_1.md; frozen model_description.yaml.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Aramina/docs/modeling/aramina_t100_target_case_model_v0_1.md; Aramina/examples/outputs/preprocessing_and_training/aramina_target_breast_risk_preprocessing_and_training_20260724T125256Z_552f0758/training/aramina_target_breast_risk_0_2_12-beta_20260724T125510Z_b8beddb6/evaluation.yaml.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model_description.yaml and evaluation.yaml under Aramina/examples/outputs/preprocessing_and_training/aramina_target_breast_risk_preprocessing_and_training_20260724T125256Z_552f0758/training/aramina_target_breast_risk_0_2_12-beta_20260724T125510Z_b8beddb6/.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2ca9932b58472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3909760fcc455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51A4CF0-66DA-4C69-96CA-32CBFA0F53B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3098717-D0D8-1F0C-B4C6-2DE8FF39AEF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47DB5B6-E1DF-B23D-FC9A-5F1DABCDD32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0C795F3-98E5-A84D-9B63-C5E35AC21179}" type="datetime1">
              <a:t>7/4/26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7E975DA-B213-DDF9-8E87-5C1EBD908D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5D20A4-066E-EF3B-6C01-3EE687102A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D2E9407-E728-C143-A195-069F8C23FB17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588ef39d284497" /><Relationship Type="http://schemas.openxmlformats.org/officeDocument/2006/relationships/slideLayout" Target="/ppt/slideLayouts/slideLayout1.xml" Id="Read7d83f1d7d4c34" /><Relationship Type="http://schemas.openxmlformats.org/officeDocument/2006/relationships/slideLayout" Target="/ppt/slideLayouts/slideLayout2.xml" Id="R8b3e128549614a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d7d83f1d7d4c34"/>
    <p:sldLayoutId xmlns:r="http://schemas.openxmlformats.org/officeDocument/2006/relationships" id="2147483650" r:id="R8b3e128549614a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34cd1103404b17" /><Relationship Type="http://schemas.openxmlformats.org/officeDocument/2006/relationships/notesSlide" Target="/ppt/notesSlides/notesSlide1.xml" Id="Rd6efdcbe88c747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6133c842114843" /><Relationship Type="http://schemas.openxmlformats.org/officeDocument/2006/relationships/notesSlide" Target="/ppt/notesSlides/notesSlide2.xml" Id="R5022d06c312f421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071f35d9594301" /><Relationship Type="http://schemas.openxmlformats.org/officeDocument/2006/relationships/image" Target="/ppt/media/image.png" Id="R6798f6eca4314881" /><Relationship Type="http://schemas.openxmlformats.org/officeDocument/2006/relationships/notesSlide" Target="/ppt/notesSlides/notesSlide3.xml" Id="R4ae0686ab86147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c9780bee624d2a" /><Relationship Type="http://schemas.openxmlformats.org/officeDocument/2006/relationships/notesSlide" Target="/ppt/notesSlides/notesSlide4.xml" Id="R5ebeb3ea48cd44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adf96649de466f" /><Relationship Type="http://schemas.openxmlformats.org/officeDocument/2006/relationships/image" Target="/ppt/media/image2.png" Id="Re2e509a69d4e4b92" /><Relationship Type="http://schemas.openxmlformats.org/officeDocument/2006/relationships/notesSlide" Target="/ppt/notesSlides/notesSlide5.xml" Id="Rc18d9df560574bd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8fd216d3de4c7f" /><Relationship Type="http://schemas.openxmlformats.org/officeDocument/2006/relationships/notesSlide" Target="/ppt/notesSlides/notesSlide6.xml" Id="Rf1840d5d244c49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8b290bc0d6461f" /><Relationship Type="http://schemas.openxmlformats.org/officeDocument/2006/relationships/notesSlide" Target="/ppt/notesSlides/notesSlide7.xml" Id="R63095a99385243f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62ED4D0-0A58-C154-F873-F4093BF588F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520456"/>
            <a:ext cx="9144000" cy="2075874"/>
          </a:xfrm>
        </p:spPr>
        <p:txBody>
          <a:bodyPr xmlns:a="http://schemas.openxmlformats.org/drawingml/2006/main">
            <a:normAutofit fontScale="80378"/>
          </a:bodyPr>
          <a:lstStyle xmlns:a="http://schemas.openxmlformats.org/drawingml/2006/main"/>
          <a:p xmlns:a="http://schemas.openxmlformats.org/drawingml/2006/main">
            <a:r>
              <a:t>ARAMINA</a:t>
            </a:r>
          </a:p>
          <a:p xmlns:a="http://schemas.openxmlformats.org/drawingml/2006/main">
            <a:r>
              <a:t>XRD decision support for biopsy assessment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21EAF9B-F784-B2BE-4D3D-E0333086F6B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4266181"/>
            <a:ext cx="9144000" cy="16557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Research-draft product overview</a:t>
            </a:r>
          </a:p>
          <a:p xmlns:a="http://schemas.openxmlformats.org/drawingml/2006/main">
            <a:r>
              <a:t>27/07/2026</a:t>
            </a:r>
          </a:p>
        </p:txBody>
      </p:sp>
    </p:spTree>
    <p:extLst>
      <p:ext uri="{BB962C8B-B14F-4D97-AF65-F5344CB8AC3E}">
        <p14:creationId xmlns:p14="http://schemas.microsoft.com/office/powerpoint/2010/main" val="16609540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A458387-159B-4146-8095-F7E5BF29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300" b="0">
                <a:solidFill>
                  <a:srgbClr val="000000"/>
                </a:solidFill>
              </a:defRPr>
            </a:pPr>
            <a:r>
              <a:rPr sz="3300" b="0">
                <a:solidFill>
                  <a:srgbClr val="000000"/>
                </a:solidFill>
              </a:rPr>
              <a:t>T100 defines the biopsy-confirmed cohort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A1608AC-4328-4391-B83D-49268B7C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45556C"/>
                </a:solidFill>
              </a:defRPr>
            </a:pPr>
            <a:r>
              <a:rPr sz="1500">
                <a:solidFill>
                  <a:srgbClr val="45556C"/>
                </a:solidFill>
              </a:rPr>
              <a:t>Archive acquisitions: 14 May 2025 to 10 June 2026 | T100 preprocessing | target-breast endpoint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F7A2B035-89FA-44CC-B5D3-5E69D918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1619250" cy="78105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AD5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Combined H5</a:t>
            </a:r>
          </a:p>
          <a:p xmlns:a="http://schemas.openxmlformats.org/drawingml/2006/main">
            <a:pPr algn="ctr">
              <a:buNone/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2D XRD + metadata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66CFD014-8A50-46DC-ACC5-DE4C11E5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857375"/>
            <a:ext cx="2095500" cy="971550"/>
          </a:xfrm>
          <a:prstGeom xmlns:a="http://schemas.openxmlformats.org/drawingml/2006/main" prst="roundRect">
            <a:avLst>
              <a:gd name="adj" fmla="val 19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AD5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AgBH T100 QC</a:t>
            </a:r>
          </a:p>
          <a:p xmlns:a="http://schemas.openxmlformats.org/drawingml/2006/main">
            <a:pPr algn="ctr">
              <a:buNone/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PONI + thickness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14624A93-3DE6-4951-B551-F1AD13AC7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857375"/>
            <a:ext cx="1905000" cy="971550"/>
          </a:xfrm>
          <a:prstGeom xmlns:a="http://schemas.openxmlformats.org/drawingml/2006/main" prst="roundRect">
            <a:avLst>
              <a:gd name="adj" fmla="val 19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AD5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Biopsy-patient</a:t>
            </a:r>
          </a:p>
          <a:p xmlns:a="http://schemas.openxmlformats.org/drawingml/2006/main">
            <a:pPr algn="ctr">
              <a:buNone/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cohort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FF95B6FE-E7F2-47A1-B169-83743F62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857375"/>
            <a:ext cx="2095500" cy="971550"/>
          </a:xfrm>
          <a:prstGeom xmlns:a="http://schemas.openxmlformats.org/drawingml/2006/main" prst="roundRect">
            <a:avLst>
              <a:gd name="adj" fmla="val 19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AD5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Biopsied breast</a:t>
            </a:r>
          </a:p>
          <a:p xmlns:a="http://schemas.openxmlformats.org/drawingml/2006/main">
            <a:pPr algn="ctr">
              <a:buNone/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= target case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77454E5E-5A22-40BD-A3C5-3BE6516A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857375"/>
            <a:ext cx="1714500" cy="971550"/>
          </a:xfrm>
          <a:prstGeom xmlns:a="http://schemas.openxmlformats.org/drawingml/2006/main" prst="roundRect">
            <a:avLst>
              <a:gd name="adj" fmla="val 19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AD5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Frozen model</a:t>
            </a:r>
          </a:p>
          <a:p xmlns:a="http://schemas.openxmlformats.org/drawingml/2006/main">
            <a:pPr algn="ctr">
              <a:buNone/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0.2.12-beta</a:t>
            </a:r>
          </a:p>
        </p:txBody>
      </p:sp>
      <p:cxnSp>
        <p:nvCxnSpPr>
          <p:cNvPr id="51" name="Straight Arrow Connector 28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333625" y="23431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5556C"/>
            </a:solidFill>
            <a:prstDash val="solid"/>
            <a:tailEnd type="arrow" w="med" len="med"/>
          </a:ln>
        </p:spPr>
      </p:cxnSp>
      <p:cxnSp>
        <p:nvCxnSpPr>
          <p:cNvPr id="52" name="Straight Arrow Connector 29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810125" y="23431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5556C"/>
            </a:solidFill>
            <a:prstDash val="solid"/>
            <a:tailEnd type="arrow" w="med" len="med"/>
          </a:ln>
        </p:spPr>
      </p:cxnSp>
      <p:cxnSp>
        <p:nvCxnSpPr>
          <p:cNvPr id="53" name="Straight Arrow Connector 30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096125" y="23431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5556C"/>
            </a:solidFill>
            <a:prstDash val="solid"/>
            <a:tailEnd type="arrow" w="med" len="med"/>
          </a:ln>
        </p:spPr>
      </p:cxnSp>
      <p:cxnSp>
        <p:nvCxnSpPr>
          <p:cNvPr id="54" name="Straight Arrow Connector 31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572625" y="23431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5556C"/>
            </a:solidFill>
            <a:prstDash val="solid"/>
            <a:tailEnd type="arrow" w="med" len="med"/>
          </a:ln>
        </p:spPr>
      </p:cxn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26D0546-9525-438C-9408-9687AA17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Accepted model-input cohort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8B7DFC46-4AF1-49E5-ADE7-E09C34E5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38600"/>
            <a:ext cx="1600200" cy="8001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164</a:t>
            </a:r>
          </a:p>
          <a:p xmlns:a="http://schemas.openxmlformats.org/drawingml/2006/main">
            <a:pPr algn="ctr">
              <a:buNone/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patients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FF2DCE42-D5A9-412C-AD59-6F3FB919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038600"/>
            <a:ext cx="1600200" cy="8001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314</a:t>
            </a:r>
          </a:p>
          <a:p xmlns:a="http://schemas.openxmlformats.org/drawingml/2006/main">
            <a:pPr algn="ctr">
              <a:buNone/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breasts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E422337D-508C-4C9C-8254-C7B7B502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38600"/>
            <a:ext cx="1600200" cy="8001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893</a:t>
            </a:r>
          </a:p>
          <a:p xmlns:a="http://schemas.openxmlformats.org/drawingml/2006/main">
            <a:pPr algn="ctr">
              <a:buNone/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measurements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27432C57-6F4D-4286-924E-822E4C17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242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Historical target cases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DC296019-306D-43E8-A7FD-D42548D9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38600"/>
            <a:ext cx="1600200" cy="8001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175</a:t>
            </a:r>
          </a:p>
          <a:p xmlns:a="http://schemas.openxmlformats.org/drawingml/2006/main">
            <a:pPr algn="ctr">
              <a:buNone/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target breasts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B3DB8C35-764C-4228-9399-CDF4CA4D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38600"/>
            <a:ext cx="1600200" cy="8001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76</a:t>
            </a:r>
          </a:p>
          <a:p xmlns:a="http://schemas.openxmlformats.org/drawingml/2006/main">
            <a:pPr algn="ctr">
              <a:buNone/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CANCER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3E0C9C46-D511-4B21-A2D7-EA48D552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038600"/>
            <a:ext cx="1600200" cy="8001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99</a:t>
            </a:r>
          </a:p>
          <a:p xmlns:a="http://schemas.openxmlformats.org/drawingml/2006/main">
            <a:pPr algn="ctr">
              <a:buNone/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BENIGN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778A72D6-0704-441C-AE09-31F88182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81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• 150 patients have two breasts; 14 have one breast.</a:t>
            </a:r>
          </a:p>
          <a:p xmlns:a="http://schemas.openxmlformats.org/drawingml/2006/main">
            <a:pPr>
              <a:buNone/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• NORMAL + BENIGN  -&gt;  BENIGN</a:t>
            </a:r>
          </a:p>
          <a:p xmlns:a="http://schemas.openxmlformats.org/drawingml/2006/main">
            <a:pPr>
              <a:buNone/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• ATYPICAL + PRE_CANCEROUS + CANCER  -&gt;  CANCER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1B48166C-98B6-4633-8ED2-55593AEC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62748E"/>
                </a:solidFill>
              </a:defRPr>
            </a:pPr>
            <a:r>
              <a:rPr sz="1200">
                <a:solidFill>
                  <a:srgbClr val="62748E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734444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9AD3EA8-D1F8-45EB-9FD2-CB36AC97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300" b="0">
                <a:solidFill>
                  <a:srgbClr val="000000"/>
                </a:solidFill>
              </a:defRPr>
            </a:pPr>
            <a:r>
              <a:rPr sz="3300" b="0">
                <a:solidFill>
                  <a:srgbClr val="000000"/>
                </a:solidFill>
              </a:rPr>
              <a:t>T100 removes unstable calibration sessions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D658E83-0632-4E16-BFBC-7FE6F58A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45556C"/>
                </a:solidFill>
              </a:defRPr>
            </a:pPr>
            <a:r>
              <a:rPr sz="1500">
                <a:solidFill>
                  <a:srgbClr val="45556C"/>
                </a:solidFill>
              </a:rPr>
              <a:t>K-beta shoulder contamination can distort XRD profiles before modelling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C194CF2-B230-4791-A79E-98C28846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Why this matters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AEA42A9-9764-4EDD-A6F6-53AAC3F59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49530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• Product profiles must share one stable q calibration.</a:t>
            </a:r>
          </a:p>
          <a:p xmlns:a="http://schemas.openxmlformats.org/drawingml/2006/main">
            <a:pPr>
              <a:buNone/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• AgBH is an external calibration-quality monitor.</a:t>
            </a:r>
          </a:p>
          <a:p xmlns:a="http://schemas.openxmlformats.org/drawingml/2006/main">
            <a:pPr>
              <a:buNone/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• T100 uses score &lt;=0.0075; sessions above the threshold are excluded before GFRM loading.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D79794B-6057-4117-B2FC-6A5F65DF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7162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All calibration sessions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84A7939-ABC7-4F22-B433-89FE6BCF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49530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35180EC-879C-4C4D-A1BC-4EDE051F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958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Product decision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7592CFC-72FF-421E-AFE3-8BC48CF1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95875"/>
            <a:ext cx="7620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000000"/>
                </a:solidFill>
              </a:defRPr>
            </a:pPr>
            <a:r>
              <a:rPr sz="1950" b="0">
                <a:solidFill>
                  <a:srgbClr val="000000"/>
                </a:solidFill>
              </a:rPr>
              <a:t>T100 is the frozen preprocessing route for the current Aramina model artifact.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E0F79A4-FD16-4EFF-9C71-74EAC9DB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62748E"/>
                </a:solidFill>
              </a:defRPr>
            </a:pPr>
            <a:r>
              <a:rPr sz="1200">
                <a:solidFill>
                  <a:srgbClr val="62748E"/>
                </a:solidFill>
              </a:rPr>
              <a:t>2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98f6eca4314881"/>
          <a:stretch xmlns:a="http://schemas.openxmlformats.org/drawingml/2006/main"/>
        </p:blipFill>
        <p:spPr>
          <a:xfrm xmlns:a="http://schemas.openxmlformats.org/drawingml/2006/main">
            <a:off x="6238875" y="2321218"/>
            <a:ext cx="5238750" cy="202506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8590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A458387-159B-4146-8095-F7E5BF29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300" b="0">
                <a:solidFill>
                  <a:srgbClr val="000000"/>
                </a:solidFill>
              </a:defRPr>
            </a:pPr>
            <a:r>
              <a:rPr sz="3300" b="0">
                <a:solidFill>
                  <a:srgbClr val="000000"/>
                </a:solidFill>
              </a:rPr>
              <a:t>2D XRD becomes a normalized 100-point profile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A1608AC-4328-4391-B83D-49268B7C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45556C"/>
                </a:solidFill>
              </a:defRPr>
            </a:pPr>
            <a:r>
              <a:rPr sz="1500">
                <a:solidFill>
                  <a:srgbClr val="45556C"/>
                </a:solidFill>
              </a:rPr>
              <a:t>All settings are frozen in the preprocessing YAML and stored with the model artifact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F7A2B035-89FA-44CC-B5D3-5E69D918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1619250" cy="78105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AD5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H5 container</a:t>
            </a:r>
          </a:p>
          <a:p xmlns:a="http://schemas.openxmlformats.org/drawingml/2006/main">
            <a:pPr algn="ctr">
              <a:buNone/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raw GFRM + metadata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66CFD014-8A50-46DC-ACC5-DE4C11E5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857375"/>
            <a:ext cx="2095500" cy="971550"/>
          </a:xfrm>
          <a:prstGeom xmlns:a="http://schemas.openxmlformats.org/drawingml/2006/main" prst="roundRect">
            <a:avLst>
              <a:gd name="adj" fmla="val 19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AD5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Quality filters</a:t>
            </a:r>
          </a:p>
          <a:p xmlns:a="http://schemas.openxmlformats.org/drawingml/2006/main">
            <a:pPr algn="ctr">
              <a:buNone/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AgBH, PONI, thickness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14624A93-3DE6-4951-B551-F1AD13AC7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857375"/>
            <a:ext cx="1905000" cy="971550"/>
          </a:xfrm>
          <a:prstGeom xmlns:a="http://schemas.openxmlformats.org/drawingml/2006/main" prst="roundRect">
            <a:avLst>
              <a:gd name="adj" fmla="val 19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AD5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Faulty-pixel</a:t>
            </a:r>
          </a:p>
          <a:p xmlns:a="http://schemas.openxmlformats.org/drawingml/2006/main">
            <a:pPr algn="ctr">
              <a:buNone/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mask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FF95B6FE-E7F2-47A1-B169-83743F62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857375"/>
            <a:ext cx="2095500" cy="971550"/>
          </a:xfrm>
          <a:prstGeom xmlns:a="http://schemas.openxmlformats.org/drawingml/2006/main" prst="roundRect">
            <a:avLst>
              <a:gd name="adj" fmla="val 19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AD5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Azimuthal</a:t>
            </a:r>
          </a:p>
          <a:p xmlns:a="http://schemas.openxmlformats.org/drawingml/2006/main">
            <a:pPr algn="ctr">
              <a:buNone/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integration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77454E5E-5A22-40BD-A3C5-3BE6516A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857375"/>
            <a:ext cx="1714500" cy="971550"/>
          </a:xfrm>
          <a:prstGeom xmlns:a="http://schemas.openxmlformats.org/drawingml/2006/main" prst="roundRect">
            <a:avLst>
              <a:gd name="adj" fmla="val 19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AD5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Normalized 1D</a:t>
            </a:r>
          </a:p>
          <a:p xmlns:a="http://schemas.openxmlformats.org/drawingml/2006/main">
            <a:pPr algn="ctr">
              <a:buNone/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radial profile</a:t>
            </a:r>
          </a:p>
        </p:txBody>
      </p:sp>
      <p:cxnSp>
        <p:nvCxnSpPr>
          <p:cNvPr id="51" name="Straight Arrow Connector 28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333625" y="23431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5556C"/>
            </a:solidFill>
            <a:prstDash val="solid"/>
            <a:tailEnd type="arrow" w="med" len="med"/>
          </a:ln>
        </p:spPr>
      </p:cxnSp>
      <p:cxnSp>
        <p:nvCxnSpPr>
          <p:cNvPr id="52" name="Straight Arrow Connector 29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810125" y="23431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5556C"/>
            </a:solidFill>
            <a:prstDash val="solid"/>
            <a:tailEnd type="arrow" w="med" len="med"/>
          </a:ln>
        </p:spPr>
      </p:cxnSp>
      <p:cxnSp>
        <p:nvCxnSpPr>
          <p:cNvPr id="53" name="Straight Arrow Connector 30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096125" y="23431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5556C"/>
            </a:solidFill>
            <a:prstDash val="solid"/>
            <a:tailEnd type="arrow" w="med" len="med"/>
          </a:ln>
        </p:spPr>
      </p:cxnSp>
      <p:cxnSp>
        <p:nvCxnSpPr>
          <p:cNvPr id="54" name="Straight Arrow Connector 31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572625" y="23431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5556C"/>
            </a:solidFill>
            <a:prstDash val="solid"/>
            <a:tailEnd type="arrow" w="med" len="med"/>
          </a:ln>
        </p:spPr>
      </p:cxn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26D0546-9525-438C-9408-9687AA17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Integration and signal quality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8B7DFC46-4AF1-49E5-ADE7-E09C34E5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38600"/>
            <a:ext cx="1600200" cy="8001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2-23 nm^-1</a:t>
            </a:r>
          </a:p>
          <a:p xmlns:a="http://schemas.openxmlformats.org/drawingml/2006/main">
            <a:pPr algn="ctr">
              <a:buNone/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q range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FF2DCE42-D5A9-412C-AD59-6F3FB919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038600"/>
            <a:ext cx="1600200" cy="8001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100</a:t>
            </a:r>
          </a:p>
          <a:p xmlns:a="http://schemas.openxmlformats.org/drawingml/2006/main">
            <a:pPr algn="ctr">
              <a:buNone/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q points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E422337D-508C-4C9C-8254-C7B7B502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38600"/>
            <a:ext cx="1600200" cy="8001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SNR &gt;=18 dB</a:t>
            </a:r>
          </a:p>
          <a:p xmlns:a="http://schemas.openxmlformats.org/drawingml/2006/main">
            <a:pPr algn="ctr">
              <a:buNone/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Poisson model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27432C57-6F4D-4286-924E-822E4C17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242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Normalization and profile gate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DC296019-306D-43E8-A7FD-D42548D9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38600"/>
            <a:ext cx="1600200" cy="8001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6.7-7.1 nm^-1</a:t>
            </a:r>
          </a:p>
          <a:p xmlns:a="http://schemas.openxmlformats.org/drawingml/2006/main">
            <a:pPr algn="ctr">
              <a:buNone/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median reference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B3DB8C35-764C-4228-9399-CDF4CA4D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38600"/>
            <a:ext cx="1600200" cy="8001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q=14 nm^-1</a:t>
            </a:r>
          </a:p>
          <a:p xmlns:a="http://schemas.openxmlformats.org/drawingml/2006/main">
            <a:pPr algn="ctr">
              <a:buNone/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profile gate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3E0C9C46-D511-4B21-A2D7-EA48D552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038600"/>
            <a:ext cx="1600200" cy="8001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P1/P2/P3</a:t>
            </a:r>
          </a:p>
          <a:p xmlns:a="http://schemas.openxmlformats.org/drawingml/2006/main">
            <a:pPr algn="ctr">
              <a:buNone/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293 / 303 / 297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778A72D6-0704-441C-AE09-31F88182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81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• Calibrant thickness must be 2-40 mm; sample thickness is required.</a:t>
            </a:r>
          </a:p>
          <a:p xmlns:a="http://schemas.openxmlformats.org/drawingml/2006/main">
            <a:pPr>
              <a:buNone/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• PONI geometry must cover q &gt;=23 nm^-1 before integration.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1B48166C-98B6-4633-8ED2-55593AEC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62748E"/>
                </a:solidFill>
              </a:defRPr>
            </a:pPr>
            <a:r>
              <a:rPr sz="1200">
                <a:solidFill>
                  <a:srgbClr val="62748E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734444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1114280-B6CC-40C0-A0F1-F669DA60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300" b="0">
                <a:solidFill>
                  <a:srgbClr val="000000"/>
                </a:solidFill>
              </a:defRPr>
            </a:pPr>
            <a:r>
              <a:rPr sz="3300" b="0">
                <a:solidFill>
                  <a:srgbClr val="000000"/>
                </a:solidFill>
              </a:rPr>
              <a:t>Final p_cancer combines profile, age and symmetry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BE51B38-ED20-492C-A35F-485DB4CE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45556C"/>
                </a:solidFill>
              </a:defRPr>
            </a:pPr>
            <a:r>
              <a:rPr sz="1500">
                <a:solidFill>
                  <a:srgbClr val="45556C"/>
                </a:solidFill>
              </a:rPr>
              <a:t>Two logistic-regression stages; symmetry is optional and never blocks prediction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8B3A3D6C-F02E-42BF-B509-857E537F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28750"/>
            <a:ext cx="2381250" cy="70485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000000"/>
                </a:solidFill>
              </a:defRPr>
            </a:pPr>
            <a:r>
              <a:rPr sz="1650">
                <a:solidFill>
                  <a:srgbClr val="000000"/>
                </a:solidFill>
              </a:rPr>
              <a:t/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D834FF2-F0E0-4D23-9C1B-9E9DC522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24125"/>
            <a:ext cx="2190750" cy="571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000000"/>
                </a:solidFill>
              </a:defRPr>
            </a:pPr>
            <a:r>
              <a:rPr sz="1650">
                <a:solidFill>
                  <a:srgbClr val="000000"/>
                </a:solidFill>
              </a:rPr>
              <a:t/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AD44241B-1A89-4A80-A15E-B4F9D447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476625"/>
            <a:ext cx="2667000" cy="7239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000000"/>
                </a:solidFill>
              </a:defRPr>
            </a:pPr>
            <a:r>
              <a:rPr sz="1650">
                <a:solidFill>
                  <a:srgbClr val="000000"/>
                </a:solidFill>
              </a:rPr>
              <a:t/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9F4B30BD-E3DD-4CC5-BDB8-1AA269F9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05375"/>
            <a:ext cx="2000250" cy="6477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000000"/>
                </a:solidFill>
              </a:defRPr>
            </a:pPr>
            <a:r>
              <a:rPr sz="1650">
                <a:solidFill>
                  <a:srgbClr val="000000"/>
                </a:solidFill>
              </a:rPr>
              <a:t/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F6BC942A-8996-4F7D-AAD1-5E3747A0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62500"/>
            <a:ext cx="2381250" cy="78105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000000"/>
                </a:solidFill>
              </a:defRPr>
            </a:pPr>
            <a:r>
              <a:rPr sz="1650">
                <a:solidFill>
                  <a:srgbClr val="000000"/>
                </a:solidFill>
              </a:rPr>
              <a:t/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B8720C2C-7F53-46D3-BFDD-8D178D54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810250"/>
            <a:ext cx="2571750" cy="5905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000000"/>
                </a:solidFill>
              </a:defRPr>
            </a:pPr>
            <a:r>
              <a:rPr sz="1650">
                <a:solidFill>
                  <a:srgbClr val="000000"/>
                </a:solidFill>
              </a:rP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DE1B3EBC-B5F9-4C16-9346-550F9A7F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62500"/>
            <a:ext cx="2000250" cy="78105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000000"/>
                </a:solidFill>
              </a:defRPr>
            </a:pPr>
            <a:r>
              <a:rPr sz="1650">
                <a:solidFill>
                  <a:srgbClr val="000000"/>
                </a:solidFill>
              </a:rPr>
              <a:t/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BE878967-444B-4A9B-970D-5C090D3C6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810250"/>
            <a:ext cx="2857500" cy="5905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000000"/>
                </a:solidFill>
              </a:defRPr>
            </a:pPr>
            <a:r>
              <a:rPr sz="1650">
                <a:solidFill>
                  <a:srgbClr val="000000"/>
                </a:solidFill>
              </a:rPr>
              <a:t/>
            </a:r>
          </a:p>
        </p:txBody>
      </p:sp>
      <p:cxnSp>
        <p:nvCxnSpPr>
          <p:cNvPr id="65" name="Straight Arrow Connector 29"/>
          <p:cNvCxnSpPr>
            <a:stCxn xmlns:a="http://schemas.openxmlformats.org/drawingml/2006/main" id="3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>
            <a:off x="5572125" y="2133600"/>
            <a:ext cx="0" cy="390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solidFill>
              <a:srgbClr val="FFFFFF"/>
            </a:solidFill>
            <a:prstDash val="solid"/>
            <a:tailEnd type="arrow" w="med" len="med"/>
          </a:ln>
        </p:spPr>
      </p:cxnSp>
      <p:cxnSp>
        <p:nvCxnSpPr>
          <p:cNvPr id="66" name="Straight Arrow Connector 30"/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5572125" y="3095625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solidFill>
              <a:srgbClr val="FFFFFF"/>
            </a:solidFill>
            <a:prstDash val="solid"/>
            <a:tailEnd type="arrow" w="med" len="med"/>
          </a:ln>
        </p:spPr>
      </p:cxnSp>
      <p:cxnSp>
        <p:nvCxnSpPr>
          <p:cNvPr id="67" name="Straight Arrow Connector 31"/>
          <p:cNvCxnSpPr>
            <a:stCxn xmlns:a="http://schemas.openxmlformats.org/drawingml/2006/main" id="5" idx="1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1905000" y="3838575"/>
            <a:ext cx="2333625" cy="1066800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solidFill>
              <a:srgbClr val="FFFFFF"/>
            </a:solidFill>
            <a:prstDash val="solid"/>
            <a:tailEnd type="arrow" w="med" len="med"/>
          </a:ln>
        </p:spPr>
      </p:cxnSp>
      <p:cxnSp>
        <p:nvCxnSpPr>
          <p:cNvPr id="68" name="Straight Arrow Connector 32"/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5572125" y="4200525"/>
            <a:ext cx="571500" cy="56197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solidFill>
              <a:srgbClr val="FFFFFF"/>
            </a:solidFill>
            <a:prstDash val="solid"/>
            <a:tailEnd type="arrow" w="med" len="med"/>
          </a:ln>
        </p:spPr>
      </p:cxnSp>
      <p:cxnSp>
        <p:nvCxnSpPr>
          <p:cNvPr id="69" name="Straight Arrow Connector 33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4905375" y="5543550"/>
            <a:ext cx="123825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solidFill>
              <a:srgbClr val="FFFFFF"/>
            </a:solidFill>
            <a:prstDash val="solid"/>
            <a:tailEnd type="arrow" w="med" len="med"/>
          </a:ln>
        </p:spPr>
      </p:cxnSp>
      <p:cxnSp>
        <p:nvCxnSpPr>
          <p:cNvPr id="70" name="Straight Arrow Connector 34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334250" y="51530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solidFill>
              <a:srgbClr val="FFFFFF"/>
            </a:solidFill>
            <a:prstDash val="solid"/>
            <a:tailEnd type="arrow" w="med" len="med"/>
          </a:ln>
        </p:spPr>
      </p:cxnSp>
      <p:cxnSp>
        <p:nvCxnSpPr>
          <p:cNvPr id="71" name="Straight Arrow Connector 35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9048750" y="5543550"/>
            <a:ext cx="47625" cy="266700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solidFill>
              <a:srgbClr val="FFFFFF"/>
            </a:solidFill>
            <a:prstDash val="solid"/>
            <a:tailEnd type="arrow" w="med" len="med"/>
          </a:ln>
        </p:spPr>
      </p:cxn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646FCAC8-16FC-4C5E-A2C3-3150D4171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476375"/>
            <a:ext cx="3714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/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69881518-ADB8-4CF0-B88F-A8E32F4B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62748E"/>
                </a:solidFill>
              </a:defRPr>
            </a:pPr>
            <a:r>
              <a:rPr sz="1200">
                <a:solidFill>
                  <a:srgbClr val="62748E"/>
                </a:solidFill>
              </a:rPr>
              <a:t>4</a:t>
            </a:r>
          </a:p>
        </p:txBody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e509a69d4e4b92"/>
          <a:stretch xmlns:a="http://schemas.openxmlformats.org/drawingml/2006/main"/>
        </p:blipFill>
        <p:spPr>
          <a:xfrm xmlns:a="http://schemas.openxmlformats.org/drawingml/2006/main">
            <a:off x="904875" y="1285875"/>
            <a:ext cx="10382250" cy="5191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614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9AD3EA8-D1F8-45EB-9FD2-CB36AC97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300" b="0">
                <a:solidFill>
                  <a:srgbClr val="000000"/>
                </a:solidFill>
              </a:defRPr>
            </a:pPr>
            <a:r>
              <a:rPr sz="3300" b="0">
                <a:solidFill>
                  <a:srgbClr val="000000"/>
                </a:solidFill>
              </a:rPr>
              <a:t>Validation and final fit answer different questions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D658E83-0632-4E16-BFBC-7FE6F58A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45556C"/>
                </a:solidFill>
              </a:defRPr>
            </a:pPr>
            <a:r>
              <a:rPr sz="1500">
                <a:solidFill>
                  <a:srgbClr val="45556C"/>
                </a:solidFill>
              </a:rPr>
              <a:t>The same patient never appears in both train and held-out test partitions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C194CF2-B230-4791-A79E-98C28846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Patient-safe evaluation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AEA42A9-9764-4EDD-A6F6-53AAC3F59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49530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• Repeated stratified 5-fold x20.</a:t>
            </a:r>
          </a:p>
          <a:p xmlns:a="http://schemas.openxmlformats.org/drawingml/2006/main">
            <a:pPr>
              <a:buNone/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• 100 held-out patient folds.</a:t>
            </a:r>
          </a:p>
          <a:p xmlns:a="http://schemas.openxmlformats.org/drawingml/2006/main">
            <a:pPr>
              <a:buNone/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• Threshold is derived from each training fold, then applied to its held-out fold.</a:t>
            </a:r>
          </a:p>
          <a:p xmlns:a="http://schemas.openxmlformats.org/drawingml/2006/main">
            <a:pPr>
              <a:buNone/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• This is the honest evidence line.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D79794B-6057-4117-B2FC-6A5F65DF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7162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Final train-on-all fit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84A7939-ABC7-4F22-B433-89FE6BCF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49530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• Fixed regularization: LR1 C=0.1; LR2 C=0.3.</a:t>
            </a:r>
          </a:p>
          <a:p xmlns:a="http://schemas.openxmlformats.org/drawingml/2006/main">
            <a:pPr>
              <a:buNone/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• Fit on all 175 accepted target cases.</a:t>
            </a:r>
          </a:p>
          <a:p xmlns:a="http://schemas.openxmlformats.org/drawingml/2006/main">
            <a:pPr>
              <a:buNone/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• Deployment threshold: p_cancer = 0.24666.</a:t>
            </a:r>
          </a:p>
          <a:p xmlns:a="http://schemas.openxmlformats.org/drawingml/2006/main">
            <a:pPr>
              <a:buNone/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• Chosen to reach sensitivity &gt;=0.95 in final fit.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35180EC-879C-4C4D-A1BC-4EDE051F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958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Interpretation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7592CFC-72FF-421E-AFE3-8BC48CF1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95875"/>
            <a:ext cx="7620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000000"/>
                </a:solidFill>
              </a:defRPr>
            </a:pPr>
            <a:r>
              <a:rPr sz="1950" b="0">
                <a:solidFill>
                  <a:srgbClr val="000000"/>
                </a:solidFill>
              </a:rPr>
              <a:t>Train-on-all describes the frozen artifact; it does not replace patient-safe validation or an independent clinical validation cohort.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E0F79A4-FD16-4EFF-9C71-74EAC9DB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62748E"/>
                </a:solidFill>
              </a:defRPr>
            </a:pPr>
            <a:r>
              <a:rPr sz="1200">
                <a:solidFill>
                  <a:srgbClr val="62748E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458590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35532A2-E4EA-4CF7-8969-879A65AF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300" b="0">
                <a:solidFill>
                  <a:srgbClr val="000000"/>
                </a:solidFill>
              </a:defRPr>
            </a:pPr>
            <a:r>
              <a:rPr sz="3300" b="0">
                <a:solidFill>
                  <a:srgbClr val="000000"/>
                </a:solidFill>
              </a:rPr>
              <a:t>Current evidence is limited by cohort size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30BF1CD-AEAD-4581-863E-31FC75E1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45556C"/>
                </a:solidFill>
              </a:defRPr>
            </a:pPr>
            <a:r>
              <a:rPr sz="1500">
                <a:solidFill>
                  <a:srgbClr val="45556C"/>
                </a:solidFill>
              </a:rPr>
              <a:t>Frozen Aramina 0.2.12-beta | T100 biopsy cohort | decision threshold p_cancer = 0.24666</a:t>
            </a:r>
          </a:p>
        </p:txBody>
      </p:sp>
      <p:graphicFrame>
        <p:nvGraphicFramePr>
          <p:cNvPr id="9" name="Table 7"/>
          <p:cNvGraphicFramePr/>
          <p:nvPr/>
        </p:nvGraphicFramePr>
        <p:xfrm>
          <a:off xmlns:a="http://schemas.openxmlformats.org/drawingml/2006/main" x="666750" y="1524000"/>
          <a:ext xmlns:a="http://schemas.openxmlformats.org/drawingml/2006/main" cx="10858500" cy="34290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809750"/>
                <a:gridCol w="1809750"/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00000"/>
                          </a:solidFill>
                        </a:rPr>
                        <a:t>Evidence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00000"/>
                          </a:solidFill>
                        </a:rPr>
                        <a:t>Method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ROC AUC</a:t>
                      </a:r>
                    </a:p>
                  </a:txBody>
                  <a:tcPr marL="91440" marR="91440" marT="45720" marB="45720">
                    <a:solidFill>
                      <a:srgbClr val="4555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Sensitivity</a:t>
                      </a:r>
                    </a:p>
                  </a:txBody>
                  <a:tcPr marL="91440" marR="91440" marT="45720" marB="45720">
                    <a:solidFill>
                      <a:srgbClr val="4555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Specificity</a:t>
                      </a:r>
                    </a:p>
                  </a:txBody>
                  <a:tcPr marL="91440" marR="91440" marT="45720" marB="45720">
                    <a:solidFill>
                      <a:srgbClr val="4555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00000"/>
                          </a:solidFill>
                        </a:rPr>
                        <a:t>Interpretation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Patient-safe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5-fold x20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0000"/>
                          </a:solidFill>
                        </a:rPr>
                        <a:t>0.645 +/- 0.069</a:t>
                      </a:r>
                    </a:p>
                  </a:txBody>
                  <a:tcPr marL="91440" marR="91440" marT="45720" marB="45720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0000"/>
                          </a:solidFill>
                        </a:rPr>
                        <a:t>0.818 +/- 0.099</a:t>
                      </a:r>
                    </a:p>
                  </a:txBody>
                  <a:tcPr marL="91440" marR="91440" marT="45720" marB="45720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0000"/>
                          </a:solidFill>
                        </a:rPr>
                        <a:t>0.376 +/- 0.133</a:t>
                      </a:r>
                    </a:p>
                  </a:txBody>
                  <a:tcPr marL="91440" marR="91440" marT="45720" marB="45720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Held-out folds</a:t>
                      </a:r>
                    </a:p>
                  </a:txBody>
                  <a:tcPr marL="91440" marR="91440" marT="45720" marB="45720"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Final fit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Train on all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0.865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0.961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0.495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In-sample</a:t>
                      </a:r>
                    </a:p>
                  </a:txBody>
                  <a:tcPr marL="91440" marR="91440" marT="45720" marB="45720"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Cohort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175 target cases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76 CANCER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99 BENIGN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164 patients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T100 QC</a:t>
                      </a:r>
                    </a:p>
                  </a:txBody>
                  <a:tcPr marL="91440" marR="91440" marT="45720" marB="45720"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Threshold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p_cancer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0.24666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TP 73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TN 49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Final fit</a:t>
                      </a:r>
                    </a:p>
                  </a:txBody>
                  <a:tcPr marL="91440" marR="91440" marT="45720" marB="45720"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Errors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Final fit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FN 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FP 50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NPV 0.942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Not independent</a:t>
                      </a:r>
                    </a:p>
                  </a:txBody>
                  <a:tcPr marL="91440" marR="91440" marT="45720" marB="45720"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Predictive value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Final fit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PPV 0.593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NPV 0.942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BA 0.728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In-sample</a:t>
                      </a:r>
                    </a:p>
                  </a:txBody>
                  <a:tcPr marL="91440" marR="91440" marT="45720" marB="45720"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Threshold policy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Final fit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Target sensitivity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&gt;=0.95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Reached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Fixed route</a:t>
                      </a:r>
                    </a:p>
                  </a:txBody>
                  <a:tcPr marL="91440" marR="91440" marT="45720" marB="45720"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Limitation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Validation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No external cohort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Small 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Selected cohort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Research draft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B61B025-CE07-40D4-8C24-68B8B199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1038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• Current evidence supports research-draft decision support, not an autonomous diagnosis claim.</a:t>
            </a:r>
          </a:p>
          <a:p xmlns:a="http://schemas.openxmlformats.org/drawingml/2006/main">
            <a:pPr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• Larger independent data are required before stronger performance claims.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1F26249-4D4C-4E27-BD39-34F2253C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62748E"/>
                </a:solidFill>
              </a:defRPr>
            </a:pPr>
            <a:r>
              <a:rPr sz="1200">
                <a:solidFill>
                  <a:srgbClr val="62748E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9494557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2026-07-27T09:20:25.6700000Z</dcterms:created>
  <dcterms:modified xsi:type="dcterms:W3CDTF">2026-07-27T09:20:25.6700000Z</dcterms:modified>
</coreProperties>
</file>