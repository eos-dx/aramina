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5f5bb1bfe648fb" /><Relationship Type="http://schemas.openxmlformats.org/officeDocument/2006/relationships/extended-properties" Target="/docProps/app.xml" Id="R8ff41640103e4e53" /><Relationship Type="http://schemas.openxmlformats.org/officeDocument/2006/relationships/officeDocument" Target="/ppt/presentation.xml" Id="R1d2854904bc243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865c21c9c04cd2"/>
  </p:sldMasterIdLst>
  <p:notesMasterIdLst>
    <p:notesMasterId xmlns:r="http://schemas.openxmlformats.org/officeDocument/2006/relationships" r:id="R00903b0d2be041ab"/>
  </p:notesMasterIdLst>
  <p:sldIdLst>
    <p:sldId xmlns:r="http://schemas.openxmlformats.org/officeDocument/2006/relationships" id="256" r:id="R02a9475dce27403d"/>
    <p:sldId xmlns:r="http://schemas.openxmlformats.org/officeDocument/2006/relationships" id="257" r:id="R8633664a3cf14869"/>
    <p:sldId xmlns:r="http://schemas.openxmlformats.org/officeDocument/2006/relationships" id="258" r:id="R5da04b54236b42bf"/>
    <p:sldId xmlns:r="http://schemas.openxmlformats.org/officeDocument/2006/relationships" id="259" r:id="R11a66998cd1c44a6"/>
    <p:sldId xmlns:r="http://schemas.openxmlformats.org/officeDocument/2006/relationships" id="260" r:id="R67080e1efe1b4f7e"/>
    <p:sldId xmlns:r="http://schemas.openxmlformats.org/officeDocument/2006/relationships" id="261" r:id="Rd6f23d72c2bd41da"/>
    <p:sldId xmlns:r="http://schemas.openxmlformats.org/officeDocument/2006/relationships" id="262" r:id="Raa99179f4fb5444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345e62367549e5" /><Relationship Type="http://schemas.openxmlformats.org/officeDocument/2006/relationships/slideMaster" Target="/ppt/slideMasters/slideMaster1.xml" Id="R6c865c21c9c04cd2" /><Relationship Type="http://schemas.openxmlformats.org/officeDocument/2006/relationships/notesMaster" Target="/ppt/notesMasters/notesMaster1.xml" Id="R00903b0d2be041ab" /><Relationship Type="http://schemas.openxmlformats.org/officeDocument/2006/relationships/presProps" Target="/ppt/presProps.xml" Id="R17aba38be5a941ee" /><Relationship Type="http://schemas.openxmlformats.org/officeDocument/2006/relationships/viewProps" Target="/ppt/viewProps.xml" Id="R5f53fd1914bb4985" /><Relationship Type="http://schemas.openxmlformats.org/officeDocument/2006/relationships/tableStyles" Target="/ppt/tableStyles.xml" Id="R007c136356c0498f" /><Relationship Type="http://schemas.openxmlformats.org/officeDocument/2006/relationships/slide" Target="/ppt/slides/slide1.xml" Id="R02a9475dce27403d" /><Relationship Type="http://schemas.openxmlformats.org/officeDocument/2006/relationships/slide" Target="/ppt/slides/slide2.xml" Id="R8633664a3cf14869" /><Relationship Type="http://schemas.openxmlformats.org/officeDocument/2006/relationships/slide" Target="/ppt/slides/slide3.xml" Id="R5da04b54236b42bf" /><Relationship Type="http://schemas.openxmlformats.org/officeDocument/2006/relationships/slide" Target="/ppt/slides/slide4.xml" Id="R11a66998cd1c44a6" /><Relationship Type="http://schemas.openxmlformats.org/officeDocument/2006/relationships/slide" Target="/ppt/slides/slide5.xml" Id="R67080e1efe1b4f7e" /><Relationship Type="http://schemas.openxmlformats.org/officeDocument/2006/relationships/slide" Target="/ppt/slides/slide6.xml" Id="Rd6f23d72c2bd41da" /><Relationship Type="http://schemas.openxmlformats.org/officeDocument/2006/relationships/slide" Target="/ppt/slides/slide7.xml" Id="Raa99179f4fb544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ca808c7bf944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4d39e43d034f1e" /><Relationship Type="http://schemas.openxmlformats.org/officeDocument/2006/relationships/notesMaster" Target="/ppt/notesMasters/notesMaster1.xml" Id="Rce564113febd4c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7b8a1bdfff45f4" /><Relationship Type="http://schemas.openxmlformats.org/officeDocument/2006/relationships/notesMaster" Target="/ppt/notesMasters/notesMaster1.xml" Id="Rf7e00cf2e05140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d8065b1fd24bcc" /><Relationship Type="http://schemas.openxmlformats.org/officeDocument/2006/relationships/notesMaster" Target="/ppt/notesMasters/notesMaster1.xml" Id="Re3903f9972c747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de3e8e1cad4094" /><Relationship Type="http://schemas.openxmlformats.org/officeDocument/2006/relationships/notesMaster" Target="/ppt/notesMasters/notesMaster1.xml" Id="R701c81e2055848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069f51dd4f44fd" /><Relationship Type="http://schemas.openxmlformats.org/officeDocument/2006/relationships/notesMaster" Target="/ppt/notesMasters/notesMaster1.xml" Id="Rc82ad030411743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f7bd6c575e4fc6" /><Relationship Type="http://schemas.openxmlformats.org/officeDocument/2006/relationships/notesMaster" Target="/ppt/notesMasters/notesMaster1.xml" Id="R50a820f11e0941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ee6d6dcc9c47fd" /><Relationship Type="http://schemas.openxmlformats.org/officeDocument/2006/relationships/notesMaster" Target="/ppt/notesMasters/notesMaster1.xml" Id="Rdd65382abb7944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Aramina/docs/modeling/aramina_t100_target_case_model_v0_1.md; intended use and model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Aramina/examples/outputs/preprocessing_and_training/aramina_target_breast_risk_preprocessing_and_training_20260724T125256Z_552f0758/preprocessing/cohort_summary.json; Aramina/docs/modeling/current_model_dataframe_v0_1.md.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Clinical_trials/analysis/aramina_preprocessing_v0_1/agbh_monochromaticity_by_batch.png; Aramina/docs/agbh_quality_exclusions.md; Aramina/docs/modeling/current_model_dataframe_v0_1.md.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Aramina/config/preprocessing/shared/aramina_policy_v0_1.yaml; Aramina/config/preprocessing/shared/aramina_pipeline_v0_1.yaml; frozen cohort dataframe inspection.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Aramina/docs/modeling/aramina_t100_target_case_model_v0_1.md; Aramina/docs/modeling/sk_symmetry_features_v0_1.md; frozen model_description.yaml.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Aramina/docs/modeling/aramina_t100_target_case_model_v0_1.md; Aramina/examples/outputs/preprocessing_and_training/aramina_target_breast_risk_preprocessing_and_training_20260724T125256Z_552f0758/training/aramina_target_breast_risk_0_2_12-beta_20260724T125510Z_b8beddb6/evaluation.yaml.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Frozen model_description.yaml and evaluation.yaml under Aramina/examples/outputs/preprocessing_and_training/aramina_target_breast_risk_preprocessing_and_training_20260724T125256Z_552f0758/training/aramina_target_breast_risk_0_2_12-beta_20260724T125510Z_b8beddb6/.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9f4fbf7572454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ae74875d0a43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1A4CF0-66DA-4C69-96CA-32CBFA0F53B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3098717-D0D8-1F0C-B4C6-2DE8FF39AE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7DB5B6-E1DF-B23D-FC9A-5F1DABCDD3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C795F3-98E5-A84D-9B63-C5E35AC21179}" type="datetime1">
              <a:t>7/4/26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7E975DA-B213-DDF9-8E87-5C1EBD908D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5D20A4-066E-EF3B-6C01-3EE687102A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2E9407-E728-C143-A195-069F8C23FB17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8acd3312b44845" /><Relationship Type="http://schemas.openxmlformats.org/officeDocument/2006/relationships/slideLayout" Target="/ppt/slideLayouts/slideLayout1.xml" Id="Re01b4d5626c3475b" /><Relationship Type="http://schemas.openxmlformats.org/officeDocument/2006/relationships/slideLayout" Target="/ppt/slideLayouts/slideLayout2.xml" Id="R928b7ae28a564c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1b4d5626c3475b"/>
    <p:sldLayoutId xmlns:r="http://schemas.openxmlformats.org/officeDocument/2006/relationships" id="2147483650" r:id="R928b7ae28a564c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6194007bf9412e" /><Relationship Type="http://schemas.openxmlformats.org/officeDocument/2006/relationships/notesSlide" Target="/ppt/notesSlides/notesSlide1.xml" Id="Re776cb3848044c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530be782f4b79" /><Relationship Type="http://schemas.openxmlformats.org/officeDocument/2006/relationships/notesSlide" Target="/ppt/notesSlides/notesSlide2.xml" Id="R7b8768f0321849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eda2c8e1248d2" /><Relationship Type="http://schemas.openxmlformats.org/officeDocument/2006/relationships/image" Target="/ppt/media/image.png" Id="R39f4d2a51cde4e61" /><Relationship Type="http://schemas.openxmlformats.org/officeDocument/2006/relationships/notesSlide" Target="/ppt/notesSlides/notesSlide3.xml" Id="Rbd771f7ad8de49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7e289b2c94b7e" /><Relationship Type="http://schemas.openxmlformats.org/officeDocument/2006/relationships/notesSlide" Target="/ppt/notesSlides/notesSlide4.xml" Id="R4a132353c38842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3380fe4514015" /><Relationship Type="http://schemas.openxmlformats.org/officeDocument/2006/relationships/notesSlide" Target="/ppt/notesSlides/notesSlide5.xml" Id="R1afc2e2e874c4d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bda6f84924e6b" /><Relationship Type="http://schemas.openxmlformats.org/officeDocument/2006/relationships/notesSlide" Target="/ppt/notesSlides/notesSlide6.xml" Id="Rc8ab7c79ba064e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1f2f0f26e4688" /><Relationship Type="http://schemas.openxmlformats.org/officeDocument/2006/relationships/notesSlide" Target="/ppt/notesSlides/notesSlide7.xml" Id="Rfc8f963aaaa7444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2ED4D0-0A58-C154-F873-F4093BF588F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520456"/>
            <a:ext cx="9144000" cy="2075874"/>
          </a:xfrm>
        </p:spPr>
        <p:txBody>
          <a:bodyPr xmlns:a="http://schemas.openxmlformats.org/drawingml/2006/main">
            <a:normAutofit fontScale="80378"/>
          </a:bodyPr>
          <a:lstStyle xmlns:a="http://schemas.openxmlformats.org/drawingml/2006/main"/>
          <a:p xmlns:a="http://schemas.openxmlformats.org/drawingml/2006/main">
            <a:r>
              <a:t>ARAMINA</a:t>
            </a:r>
          </a:p>
          <a:p xmlns:a="http://schemas.openxmlformats.org/drawingml/2006/main">
            <a:r>
              <a:t>XRD decision support for biopsy assessment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21EAF9B-F784-B2BE-4D3D-E0333086F6B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4266181"/>
            <a:ext cx="9144000" cy="16557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Research-draft product overview</a:t>
            </a:r>
          </a:p>
          <a:p xmlns:a="http://schemas.openxmlformats.org/drawingml/2006/main">
            <a:r>
              <a:t>27/07/2026</a:t>
            </a:r>
          </a:p>
        </p:txBody>
      </p:sp>
    </p:spTree>
    <p:extLst>
      <p:ext uri="{BB962C8B-B14F-4D97-AF65-F5344CB8AC3E}">
        <p14:creationId xmlns:p14="http://schemas.microsoft.com/office/powerpoint/2010/main" val="1660954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A458387-159B-4146-8095-F7E5BF29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T100 defines the biopsy-confirmed cohort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A1608AC-4328-4391-B83D-49268B7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Archive acquisitions: 14 May 2025 to 10 June 2026 | T100 preprocessing | target-breast endpoint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F7A2B035-89FA-44CC-B5D3-5E69D918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619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Combined H5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2D XRD + metadata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66CFD014-8A50-46DC-ACC5-DE4C11E5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AgBH T100 QC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PONI + thickness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4624A93-3DE6-4951-B551-F1AD13AC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57375"/>
            <a:ext cx="19050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Biopsy-patient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cohort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F95B6FE-E7F2-47A1-B169-83743F62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Biopsied breast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= target case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7454E5E-5A22-40BD-A3C5-3BE6516A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57375"/>
            <a:ext cx="1714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Frozen model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0.2.12-beta</a:t>
            </a:r>
          </a:p>
        </p:txBody>
      </p:sp>
      <p:cxnSp>
        <p:nvCxnSpPr>
          <p:cNvPr id="51" name="Straight Arrow Connector 28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3336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2" name="Straight Arrow Connector 29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10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3" name="Straight Arrow Connector 30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096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4" name="Straight Arrow Connector 31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572625" y="2343150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26D0546-9525-438C-9408-9687AA17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Accepted model-input cohort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B7DFC46-4AF1-49E5-ADE7-E09C34E5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164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patients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F2DCE42-D5A9-412C-AD59-6F3FB919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314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breasts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E422337D-508C-4C9C-8254-C7B7B502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893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measurements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7432C57-6F4D-4286-924E-822E4C17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24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Historical target cases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C296019-306D-43E8-A7FD-D42548D9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175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target breasts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3DB8C35-764C-4228-9399-CDF4CA4D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76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CANCER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E0C9C46-D511-4B21-A2D7-EA48D55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99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BENIGN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78A72D6-0704-441C-AE09-31F88182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150 patients have two breasts; 14 have one breast.</a:t>
            </a:r>
          </a:p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NORMAL + BENIGN  -&gt;  BENIGN</a:t>
            </a:r>
          </a:p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ATYPICAL + PRE_CANCEROUS + CANCER  -&gt;  CANCER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B48166C-98B6-4633-8ED2-55593AEC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734444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AD3EA8-D1F8-45EB-9FD2-CB36AC97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T100 removes unstable calibration sessions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658E83-0632-4E16-BFBC-7FE6F58A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K-beta shoulder contamination can distort XRD profiles before modelling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C194CF2-B230-4791-A79E-98C28846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Why this matters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AEA42A9-9764-4EDD-A6F6-53AAC3F5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Product profiles must share one stable q calibration.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AgBH is an external calibration-quality monitor.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T100 uses score &lt;=0.0075; sessions above the threshold are excluded before GFRM loading.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79794B-6057-4117-B2FC-6A5F65DF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All calibration sessions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4A7939-ABC7-4F22-B433-89FE6BCF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35180EC-879C-4C4D-A1BC-4EDE051F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Product decision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7592CFC-72FF-421E-AFE3-8BC48CF1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095875"/>
            <a:ext cx="7620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T100 is the frozen preprocessing route for the current Aramina model artifact.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E0F79A4-FD16-4EFF-9C71-74EAC9DB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2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f4d2a51cde4e61"/>
          <a:stretch xmlns:a="http://schemas.openxmlformats.org/drawingml/2006/main"/>
        </p:blipFill>
        <p:spPr>
          <a:xfrm xmlns:a="http://schemas.openxmlformats.org/drawingml/2006/main">
            <a:off x="6238875" y="2321218"/>
            <a:ext cx="5238750" cy="20250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8590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A458387-159B-4146-8095-F7E5BF29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2D XRD becomes a normalized 100-point profile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A1608AC-4328-4391-B83D-49268B7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All settings are frozen in the preprocessing YAML and stored with the model artifact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F7A2B035-89FA-44CC-B5D3-5E69D918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619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H5 container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raw GFRM + metadata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66CFD014-8A50-46DC-ACC5-DE4C11E5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Quality filters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AgBH, PONI, thickness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4624A93-3DE6-4951-B551-F1AD13AC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57375"/>
            <a:ext cx="19050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Faulty-pixel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mask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F95B6FE-E7F2-47A1-B169-83743F62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Azimuthal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integration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7454E5E-5A22-40BD-A3C5-3BE6516A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57375"/>
            <a:ext cx="1714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Normalized 1D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radial profile</a:t>
            </a:r>
          </a:p>
        </p:txBody>
      </p:sp>
      <p:cxnSp>
        <p:nvCxnSpPr>
          <p:cNvPr id="51" name="Straight Arrow Connector 28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3336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2" name="Straight Arrow Connector 29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10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3" name="Straight Arrow Connector 30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096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4" name="Straight Arrow Connector 31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572625" y="2343150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26D0546-9525-438C-9408-9687AA17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Integration and signal quality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B7DFC46-4AF1-49E5-ADE7-E09C34E5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2-23 nm^-1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 range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F2DCE42-D5A9-412C-AD59-6F3FB919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100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 points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E422337D-508C-4C9C-8254-C7B7B502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SNR &gt;=18 dB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Poisson model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7432C57-6F4D-4286-924E-822E4C17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24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Normalization and profile gate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C296019-306D-43E8-A7FD-D42548D9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6.7-7.1 nm^-1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median reference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3DB8C35-764C-4228-9399-CDF4CA4D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q=14 nm^-1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profile gate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E0C9C46-D511-4B21-A2D7-EA48D55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P1/P2/P3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293 / 303 / 297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78A72D6-0704-441C-AE09-31F88182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Calibrant thickness must be 2-40 mm; sample thickness is required.</a:t>
            </a:r>
          </a:p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PONI geometry must cover q &gt;=23 nm^-1 before integration.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B48166C-98B6-4633-8ED2-55593AEC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734444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1114280-B6CC-40C0-A0F1-F669DA60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Final p_cancer combines profile, age and symmetry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E51B38-ED20-492C-A35F-485DB4CE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Two logistic-regression stages; symmetry is optional and never blocks prediction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8B3A3D6C-F02E-42BF-B509-857E537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23812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D834FF2-F0E0-4D23-9C1B-9E9DC522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24125"/>
            <a:ext cx="2190750" cy="571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AD44241B-1A89-4A80-A15E-B4F9D447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76625"/>
            <a:ext cx="2667000" cy="7239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F4B30BD-E3DD-4CC5-BDB8-1AA269F9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05375"/>
            <a:ext cx="2000250" cy="6477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6BC942A-8996-4F7D-AAD1-5E3747A0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762500"/>
            <a:ext cx="2381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8720C2C-7F53-46D3-BFDD-8D178D54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10250"/>
            <a:ext cx="25717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E1B3EBC-B5F9-4C16-9346-550F9A7F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62500"/>
            <a:ext cx="2000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E878967-444B-4A9B-970D-5C090D3C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810250"/>
            <a:ext cx="285750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cxnSp>
        <p:nvCxnSpPr>
          <p:cNvPr id="87" name="Straight Arrow Connector 29"/>
          <p:cNvCxnSpPr>
            <a:stCxn xmlns:a="http://schemas.openxmlformats.org/drawingml/2006/main" id="3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>
            <a:off x="5572125" y="2133600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88" name="Straight Arrow Connector 30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5572125" y="3095625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89" name="Straight Arrow Connector 31"/>
          <p:cNvCxnSpPr>
            <a:stCxn xmlns:a="http://schemas.openxmlformats.org/drawingml/2006/main" id="5" idx="1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1905000" y="3838575"/>
            <a:ext cx="2333625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0" name="Straight Arrow Connector 32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5572125" y="4200525"/>
            <a:ext cx="571500" cy="56197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1" name="Straight Arrow Connector 33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4905375" y="5543550"/>
            <a:ext cx="123825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2" name="Straight Arrow Connector 34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334250" y="51530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3" name="Straight Arrow Connector 35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9048750" y="5543550"/>
            <a:ext cx="47625" cy="2667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46FCAC8-16FC-4C5E-A2C3-3150D41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476375"/>
            <a:ext cx="3714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9881518-ADB8-4CF0-B88F-A8E32F4B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4</a:t>
            </a:r>
          </a:p>
        </p:txBody>
      </p:sp>
      <p:sp>
        <p:nvSpPr>
          <p:cNvPr id="54" name="P1 profile">
            <a:extLst xmlns:a="http://schemas.openxmlformats.org/drawingml/2006/main">
              <a:ext uri="{FF2B5EF4-FFF2-40B4-BE49-F238E27FC236}">
                <a16:creationId xmlns:a16="http://schemas.microsoft.com/office/drawing/2014/main" id="{2BF67D02-1C81-472F-B189-A92F270D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7145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P1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radial profile</a:t>
            </a:r>
          </a:p>
        </p:txBody>
      </p:sp>
      <p:sp>
        <p:nvSpPr>
          <p:cNvPr id="55" name="P2 profile">
            <a:extLst xmlns:a="http://schemas.openxmlformats.org/drawingml/2006/main">
              <a:ext uri="{FF2B5EF4-FFF2-40B4-BE49-F238E27FC236}">
                <a16:creationId xmlns:a16="http://schemas.microsoft.com/office/drawing/2014/main" id="{37CB53B8-4FE8-4EE1-B9B8-7F6F1C79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4765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P2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radial profile</a:t>
            </a:r>
          </a:p>
        </p:txBody>
      </p:sp>
      <p:sp>
        <p:nvSpPr>
          <p:cNvPr id="56" name="P3 profile">
            <a:extLst xmlns:a="http://schemas.openxmlformats.org/drawingml/2006/main">
              <a:ext uri="{FF2B5EF4-FFF2-40B4-BE49-F238E27FC236}">
                <a16:creationId xmlns:a16="http://schemas.microsoft.com/office/drawing/2014/main" id="{46F074E5-EFC3-4974-B768-B4E09217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2385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P3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radial profile</a:t>
            </a:r>
          </a:p>
        </p:txBody>
      </p:sp>
      <p:sp>
        <p:nvSpPr>
          <p:cNvPr id="57" name="LR1 profile model">
            <a:extLst xmlns:a="http://schemas.openxmlformats.org/drawingml/2006/main">
              <a:ext uri="{FF2B5EF4-FFF2-40B4-BE49-F238E27FC236}">
                <a16:creationId xmlns:a16="http://schemas.microsoft.com/office/drawing/2014/main" id="{C651EF92-0EF3-4FBD-B6D4-FF9287A8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333625"/>
            <a:ext cx="13811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LR1</a:t>
            </a:r>
          </a:p>
          <a:p xmlns:a="http://schemas.openxmlformats.org/drawingml/2006/main">
            <a:pPr algn="ctr"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profile model</a:t>
            </a:r>
          </a:p>
        </p:txBody>
      </p:sp>
      <p:sp>
        <p:nvSpPr>
          <p:cNvPr id="58" name="Measurement p target">
            <a:extLst xmlns:a="http://schemas.openxmlformats.org/drawingml/2006/main">
              <a:ext uri="{FF2B5EF4-FFF2-40B4-BE49-F238E27FC236}">
                <a16:creationId xmlns:a16="http://schemas.microsoft.com/office/drawing/2014/main" id="{96713C7A-42AB-4E88-B683-99255119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38375"/>
            <a:ext cx="128587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p_cancer 1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p_cancer 2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p_cancer 3</a:t>
            </a:r>
          </a:p>
        </p:txBody>
      </p:sp>
      <p:sp>
        <p:nvSpPr>
          <p:cNvPr id="59" name="Target p target aggregate">
            <a:extLst xmlns:a="http://schemas.openxmlformats.org/drawingml/2006/main">
              <a:ext uri="{FF2B5EF4-FFF2-40B4-BE49-F238E27FC236}">
                <a16:creationId xmlns:a16="http://schemas.microsoft.com/office/drawing/2014/main" id="{640F9F9B-0A78-4331-8DE1-44B2550A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333625"/>
            <a:ext cx="15716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target p_cancer</a:t>
            </a:r>
          </a:p>
          <a:p xmlns:a="http://schemas.openxmlformats.org/drawingml/2006/main">
            <a:pPr algn="ctr"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logit average</a:t>
            </a:r>
          </a:p>
        </p:txBody>
      </p:sp>
      <p:sp>
        <p:nvSpPr>
          <p:cNvPr id="60" name="Symmetry availability gate">
            <a:extLst xmlns:a="http://schemas.openxmlformats.org/drawingml/2006/main">
              <a:ext uri="{FF2B5EF4-FFF2-40B4-BE49-F238E27FC236}">
                <a16:creationId xmlns:a16="http://schemas.microsoft.com/office/drawing/2014/main" id="{FD1B05F1-DDC7-4F23-B090-28236A7E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67125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Both breasts have</a:t>
            </a:r>
          </a:p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&gt;=2 valid measurements?</a:t>
            </a:r>
          </a:p>
        </p:txBody>
      </p:sp>
      <p:sp>
        <p:nvSpPr>
          <p:cNvPr id="61" name="Symmetry input to LR2">
            <a:extLst xmlns:a="http://schemas.openxmlformats.org/drawingml/2006/main">
              <a:ext uri="{FF2B5EF4-FFF2-40B4-BE49-F238E27FC236}">
                <a16:creationId xmlns:a16="http://schemas.microsoft.com/office/drawing/2014/main" id="{11B442EE-063B-4A5D-8581-689CEF5A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667125"/>
            <a:ext cx="2381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000000"/>
                </a:solidFill>
              </a:defRPr>
            </a:pPr>
            <a:r>
              <a:rPr sz="900">
                <a:solidFill>
                  <a:srgbClr val="000000"/>
                </a:solidFill>
              </a:rPr>
              <a:t>Symmetry input to LR2</a:t>
            </a:r>
          </a:p>
          <a:p xmlns:a="http://schemas.openxmlformats.org/drawingml/2006/main">
            <a:pPr algn="ctr">
              <a:defRPr sz="900">
                <a:solidFill>
                  <a:srgbClr val="000000"/>
                </a:solidFill>
              </a:defRPr>
            </a:pPr>
            <a:r>
              <a:rPr sz="900">
                <a:solidFill>
                  <a:srgbClr val="000000"/>
                </a:solidFill>
              </a:rPr>
              <a:t>Yes: SK Core 4 (Wasserstein, RMS1, RMS2, peak delta)</a:t>
            </a:r>
          </a:p>
          <a:p xmlns:a="http://schemas.openxmlformats.org/drawingml/2006/main">
            <a:pPr algn="ctr">
              <a:defRPr sz="900">
                <a:solidFill>
                  <a:srgbClr val="000000"/>
                </a:solidFill>
              </a:defRPr>
            </a:pPr>
            <a:r>
              <a:rPr sz="900">
                <a:solidFill>
                  <a:srgbClr val="000000"/>
                </a:solidFill>
              </a:rPr>
              <a:t>No: zero vector; reliability: low</a:t>
            </a:r>
          </a:p>
        </p:txBody>
      </p:sp>
      <p:sp>
        <p:nvSpPr>
          <p:cNvPr id="62" name="LR2 refinement">
            <a:extLst xmlns:a="http://schemas.openxmlformats.org/drawingml/2006/main">
              <a:ext uri="{FF2B5EF4-FFF2-40B4-BE49-F238E27FC236}">
                <a16:creationId xmlns:a16="http://schemas.microsoft.com/office/drawing/2014/main" id="{8E0B521B-23F0-4F42-B33F-6CC576B4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47875"/>
            <a:ext cx="185737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DEBF7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</a:rPr>
              <a:t>LR2 refinement</a:t>
            </a:r>
          </a:p>
          <a:p xmlns:a="http://schemas.openxmlformats.org/drawingml/2006/main">
            <a:pPr algn="ctr">
              <a:defRPr sz="1200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</a:rPr>
              <a:t>target p_cancer + age</a:t>
            </a:r>
          </a:p>
          <a:p xmlns:a="http://schemas.openxmlformats.org/drawingml/2006/main">
            <a:pPr algn="ctr">
              <a:defRPr sz="1200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</a:rPr>
              <a:t>+ symmetry / zeros</a:t>
            </a:r>
          </a:p>
        </p:txBody>
      </p:sp>
      <p:sp>
        <p:nvSpPr>
          <p:cNvPr id="63" name="Final p cancer">
            <a:extLst xmlns:a="http://schemas.openxmlformats.org/drawingml/2006/main">
              <a:ext uri="{FF2B5EF4-FFF2-40B4-BE49-F238E27FC236}">
                <a16:creationId xmlns:a16="http://schemas.microsoft.com/office/drawing/2014/main" id="{1F096C3A-794D-4232-8DD2-2A9472B6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33625"/>
            <a:ext cx="1095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1F1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Final p_cancer</a:t>
            </a:r>
          </a:p>
        </p:txBody>
      </p:sp>
      <p:sp>
        <p:nvSpPr>
          <p:cNvPr id="64" name="Fixed threshold">
            <a:extLst xmlns:a="http://schemas.openxmlformats.org/drawingml/2006/main">
              <a:ext uri="{FF2B5EF4-FFF2-40B4-BE49-F238E27FC236}">
                <a16:creationId xmlns:a16="http://schemas.microsoft.com/office/drawing/2014/main" id="{0CDC433A-E8D8-45F4-BEDC-50D63393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3333750"/>
            <a:ext cx="1095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1F1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Fixed threshold</a:t>
            </a:r>
          </a:p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0.24666</a:t>
            </a:r>
          </a:p>
        </p:txBody>
      </p:sp>
      <p:sp>
        <p:nvSpPr>
          <p:cNvPr id="65" name="Biopsy action">
            <a:extLst xmlns:a="http://schemas.openxmlformats.org/drawingml/2006/main">
              <a:ext uri="{FF2B5EF4-FFF2-40B4-BE49-F238E27FC236}">
                <a16:creationId xmlns:a16="http://schemas.microsoft.com/office/drawing/2014/main" id="{DDE74153-6BDC-4CB5-993D-4FDCAC84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381500"/>
            <a:ext cx="1428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1F1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Biopsy action</a:t>
            </a:r>
          </a:p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required / not required</a:t>
            </a:r>
          </a:p>
        </p:txBody>
      </p:sp>
      <p:cxnSp>
        <p:nvCxnSpPr>
          <p:cNvPr id="108" name=""/>
          <p:cNvCxnSpPr>
            <a:stCxn xmlns:a="http://schemas.openxmlformats.org/drawingml/2006/main" id="54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1857375" y="1971675"/>
            <a:ext cx="476250" cy="771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09" name=""/>
          <p:cNvCxnSpPr>
            <a:stCxn xmlns:a="http://schemas.openxmlformats.org/drawingml/2006/main" id="55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1857375" y="2733675"/>
            <a:ext cx="476250" cy="9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0" name=""/>
          <p:cNvCxnSpPr>
            <a:stCxn xmlns:a="http://schemas.openxmlformats.org/drawingml/2006/main" id="56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 flipV="1">
            <a:off x="1857375" y="2743200"/>
            <a:ext cx="476250" cy="752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1" name=""/>
          <p:cNvCxnSpPr>
            <a:stCxn xmlns:a="http://schemas.openxmlformats.org/drawingml/2006/main" id="57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>
            <a:off x="3714750" y="27432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2" name=""/>
          <p:cNvCxnSpPr>
            <a:stCxn xmlns:a="http://schemas.openxmlformats.org/drawingml/2006/main" id="58" idx="3"/>
            <a:endCxn xmlns:a="http://schemas.openxmlformats.org/drawingml/2006/main" id="59" idx="1"/>
          </p:cNvCxnSpPr>
          <p:nvPr/>
        </p:nvCxnSpPr>
        <p:spPr>
          <a:xfrm xmlns:a="http://schemas.openxmlformats.org/drawingml/2006/main">
            <a:off x="5476875" y="27432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3" name=""/>
          <p:cNvCxnSpPr>
            <a:stCxn xmlns:a="http://schemas.openxmlformats.org/drawingml/2006/main" id="59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 flipV="1">
            <a:off x="7524750" y="2505075"/>
            <a:ext cx="1095375" cy="238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4" name=""/>
          <p:cNvCxnSpPr>
            <a:stCxn xmlns:a="http://schemas.openxmlformats.org/drawingml/2006/main" id="60" idx="3"/>
            <a:endCxn xmlns:a="http://schemas.openxmlformats.org/drawingml/2006/main" id="61" idx="1"/>
          </p:cNvCxnSpPr>
          <p:nvPr/>
        </p:nvCxnSpPr>
        <p:spPr>
          <a:xfrm xmlns:a="http://schemas.openxmlformats.org/drawingml/2006/main">
            <a:off x="7762875" y="3971925"/>
            <a:ext cx="381000" cy="133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5" name=""/>
          <p:cNvCxnSpPr>
            <a:stCxn xmlns:a="http://schemas.openxmlformats.org/drawingml/2006/main" id="61" idx="0"/>
            <a:endCxn xmlns:a="http://schemas.openxmlformats.org/drawingml/2006/main" id="62" idx="2"/>
          </p:cNvCxnSpPr>
          <p:nvPr/>
        </p:nvCxnSpPr>
        <p:spPr>
          <a:xfrm xmlns:a="http://schemas.openxmlformats.org/drawingml/2006/main" flipV="1">
            <a:off x="9334500" y="2962275"/>
            <a:ext cx="214313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6" name=""/>
          <p:cNvCxnSpPr>
            <a:stCxn xmlns:a="http://schemas.openxmlformats.org/drawingml/2006/main" id="62" idx="3"/>
            <a:endCxn xmlns:a="http://schemas.openxmlformats.org/drawingml/2006/main" id="63" idx="1"/>
          </p:cNvCxnSpPr>
          <p:nvPr/>
        </p:nvCxnSpPr>
        <p:spPr>
          <a:xfrm xmlns:a="http://schemas.openxmlformats.org/drawingml/2006/main">
            <a:off x="10477500" y="2505075"/>
            <a:ext cx="333375" cy="1047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7" name=""/>
          <p:cNvCxnSpPr>
            <a:stCxn xmlns:a="http://schemas.openxmlformats.org/drawingml/2006/main" id="63" idx="2"/>
            <a:endCxn xmlns:a="http://schemas.openxmlformats.org/drawingml/2006/main" id="64" idx="0"/>
          </p:cNvCxnSpPr>
          <p:nvPr/>
        </p:nvCxnSpPr>
        <p:spPr>
          <a:xfrm xmlns:a="http://schemas.openxmlformats.org/drawingml/2006/main">
            <a:off x="11358563" y="2886075"/>
            <a:ext cx="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8" name=""/>
          <p:cNvCxnSpPr>
            <a:stCxn xmlns:a="http://schemas.openxmlformats.org/drawingml/2006/main" id="64" idx="2"/>
            <a:endCxn xmlns:a="http://schemas.openxmlformats.org/drawingml/2006/main" id="65" idx="0"/>
          </p:cNvCxnSpPr>
          <p:nvPr/>
        </p:nvCxnSpPr>
        <p:spPr>
          <a:xfrm xmlns:a="http://schemas.openxmlformats.org/drawingml/2006/main" flipH="1">
            <a:off x="11191875" y="3886200"/>
            <a:ext cx="166688" cy="495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120614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AD3EA8-D1F8-45EB-9FD2-CB36AC97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Validation and final fit answer different questions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658E83-0632-4E16-BFBC-7FE6F58A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The same patient never appears in both train and held-out test partitions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C194CF2-B230-4791-A79E-98C28846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Patient-safe evaluation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AEA42A9-9764-4EDD-A6F6-53AAC3F5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Repeated stratified 5-fold x20.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100 held-out patient folds.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Threshold is derived from each training fold, then applied to its held-out fold.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This is the honest evidence line.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79794B-6057-4117-B2FC-6A5F65DF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Final train-on-all fit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4A7939-ABC7-4F22-B433-89FE6BCF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Fixed regularization: LR1 C=0.1; LR2 C=0.3.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Fit on all 175 accepted target cases.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Deployment threshold: p_cancer = 0.24666.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Chosen to reach sensitivity &gt;=0.95 in final fit.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35180EC-879C-4C4D-A1BC-4EDE051F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7592CFC-72FF-421E-AFE3-8BC48CF1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095875"/>
            <a:ext cx="7620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Train-on-all describes the frozen artifact; it does not replace patient-safe validation or an independent clinical validation cohort.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E0F79A4-FD16-4EFF-9C71-74EAC9DB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458590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5532A2-E4EA-4CF7-8969-879A65AF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Current evidence is limited by cohort size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0BF1CD-AEAD-4581-863E-31FC75E1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Frozen Aramina 0.2.12-beta | T100 biopsy cohort | decision threshold p_cancer = 0.24666</a:t>
            </a:r>
          </a:p>
        </p:txBody>
      </p:sp>
      <p:graphicFrame>
        <p:nvGraphicFramePr>
          <p:cNvPr id="9" name="Table 7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10858500" cy="3429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9750"/>
                <a:gridCol w="1809750"/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0000"/>
                          </a:solidFill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0000"/>
                          </a:solidFill>
                        </a:rPr>
                        <a:t>Method</a:t>
                      </a:r>
                    </a:p>
                  </a:txBody>
                  <a:tcPr marL="91440" marR="91440" marT="45720" marB="4572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ROC AUC</a:t>
                      </a:r>
                    </a:p>
                  </a:txBody>
                  <a:tcPr marL="91440" marR="91440" marT="45720" marB="45720">
                    <a:solidFill>
                      <a:srgbClr val="4555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Sensitivity</a:t>
                      </a:r>
                    </a:p>
                  </a:txBody>
                  <a:tcPr marL="91440" marR="91440" marT="45720" marB="45720">
                    <a:solidFill>
                      <a:srgbClr val="4555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Specificity</a:t>
                      </a:r>
                    </a:p>
                  </a:txBody>
                  <a:tcPr marL="91440" marR="91440" marT="45720" marB="45720">
                    <a:solidFill>
                      <a:srgbClr val="4555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0000"/>
                          </a:solidFill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F1F5F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Patient-safe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5-fold x20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0.645 +/- 0.069</a:t>
                      </a:r>
                    </a:p>
                  </a:txBody>
                  <a:tcPr marL="91440" marR="91440" marT="45720" marB="45720"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0.818 +/- 0.099</a:t>
                      </a:r>
                    </a:p>
                  </a:txBody>
                  <a:tcPr marL="91440" marR="91440" marT="45720" marB="45720"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0.376 +/- 0.133</a:t>
                      </a:r>
                    </a:p>
                  </a:txBody>
                  <a:tcPr marL="91440" marR="91440" marT="45720" marB="45720"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Held-out folds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Train on all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0.865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0.961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0.495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In-sample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Cohort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175 target cases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76 CANCER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99 BENIGN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164 patients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T100 QC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Threshold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p_cancer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0.24666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TP 73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TN 49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Errors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FN 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FP 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NPV 0.942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Not independent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Predictive value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PPV 0.593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NPV 0.942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BA 0.728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In-sample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Threshold policy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Target sensitivity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&gt;=0.95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Reached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Fixed route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Limitation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Validation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 external cohort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Small 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Selected cohort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Research draft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61B025-CE07-40D4-8C24-68B8B199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• Current evidence supports research-draft decision support, not an autonomous diagnosis claim.</a:t>
            </a:r>
          </a:p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• Larger independent data are required before stronger performance claims.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1F26249-4D4C-4E27-BD39-34F2253C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494557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2026-07-27T11:10:14.3870000Z</dcterms:created>
  <dcterms:modified xsi:type="dcterms:W3CDTF">2026-07-27T11:10:14.3870000Z</dcterms:modified>
</coreProperties>
</file>